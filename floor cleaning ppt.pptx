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56" r:id="rId2"/>
    <p:sldId id="257" r:id="rId3"/>
    <p:sldId id="258" r:id="rId4"/>
    <p:sldId id="259" r:id="rId5"/>
    <p:sldId id="272" r:id="rId6"/>
    <p:sldId id="260" r:id="rId7"/>
    <p:sldId id="261" r:id="rId8"/>
    <p:sldId id="262" r:id="rId9"/>
    <p:sldId id="263" r:id="rId10"/>
    <p:sldId id="267" r:id="rId11"/>
    <p:sldId id="268" r:id="rId12"/>
    <p:sldId id="265" r:id="rId13"/>
    <p:sldId id="266" r:id="rId14"/>
    <p:sldId id="264" r:id="rId15"/>
    <p:sldId id="273" r:id="rId16"/>
    <p:sldId id="269" r:id="rId17"/>
    <p:sldId id="271" r:id="rId18"/>
    <p:sldId id="270" r:id="rId19"/>
    <p:sldId id="274" r:id="rId20"/>
    <p:sldId id="275"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C0AD391-86BC-4F5C-8B10-975B5942E4A3}" type="datetimeFigureOut">
              <a:rPr lang="en-IN" smtClean="0"/>
              <a:t>01-03-2025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1AF49-5DE1-43AA-B99B-FD0709DB4994}" type="slidenum">
              <a:rPr lang="en-IN" smtClean="0"/>
              <a:t>‹#›</a:t>
            </a:fld>
            <a:endParaRPr lang="en-IN"/>
          </a:p>
        </p:txBody>
      </p:sp>
    </p:spTree>
    <p:extLst>
      <p:ext uri="{BB962C8B-B14F-4D97-AF65-F5344CB8AC3E}">
        <p14:creationId xmlns:p14="http://schemas.microsoft.com/office/powerpoint/2010/main" val="21099943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A71AF49-5DE1-43AA-B99B-FD0709DB4994}" type="slidenum">
              <a:rPr lang="en-IN" smtClean="0"/>
              <a:t>4</a:t>
            </a:fld>
            <a:endParaRPr lang="en-IN"/>
          </a:p>
        </p:txBody>
      </p:sp>
    </p:spTree>
    <p:extLst>
      <p:ext uri="{BB962C8B-B14F-4D97-AF65-F5344CB8AC3E}">
        <p14:creationId xmlns:p14="http://schemas.microsoft.com/office/powerpoint/2010/main" val="23059625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A71AF49-5DE1-43AA-B99B-FD0709DB4994}" type="slidenum">
              <a:rPr lang="en-IN" smtClean="0"/>
              <a:t>8</a:t>
            </a:fld>
            <a:endParaRPr lang="en-IN"/>
          </a:p>
        </p:txBody>
      </p:sp>
    </p:spTree>
    <p:extLst>
      <p:ext uri="{BB962C8B-B14F-4D97-AF65-F5344CB8AC3E}">
        <p14:creationId xmlns:p14="http://schemas.microsoft.com/office/powerpoint/2010/main" val="32216840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C83622-3038-DEC9-4C8B-14E03A5EA12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80958D1-BFA4-750C-5F0C-C0A3EBE54AF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E065F26-9210-F723-1A7A-192A787B3E2E}"/>
              </a:ext>
            </a:extLst>
          </p:cNvPr>
          <p:cNvSpPr>
            <a:spLocks noGrp="1"/>
          </p:cNvSpPr>
          <p:nvPr>
            <p:ph type="dt" sz="half" idx="10"/>
          </p:nvPr>
        </p:nvSpPr>
        <p:spPr/>
        <p:txBody>
          <a:bodyPr/>
          <a:lstStyle/>
          <a:p>
            <a:fld id="{2D8181EA-1745-4BA4-85B9-723C4CD29FBF}" type="datetimeFigureOut">
              <a:rPr lang="en-IN" smtClean="0"/>
              <a:t>01-03-2025</a:t>
            </a:fld>
            <a:endParaRPr lang="en-IN"/>
          </a:p>
        </p:txBody>
      </p:sp>
      <p:sp>
        <p:nvSpPr>
          <p:cNvPr id="5" name="Footer Placeholder 4">
            <a:extLst>
              <a:ext uri="{FF2B5EF4-FFF2-40B4-BE49-F238E27FC236}">
                <a16:creationId xmlns:a16="http://schemas.microsoft.com/office/drawing/2014/main" id="{6433CE73-BDEB-0E9A-7AB1-461844FBD28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9D2BC6F-800D-75A0-36B1-001005156D01}"/>
              </a:ext>
            </a:extLst>
          </p:cNvPr>
          <p:cNvSpPr>
            <a:spLocks noGrp="1"/>
          </p:cNvSpPr>
          <p:nvPr>
            <p:ph type="sldNum" sz="quarter" idx="12"/>
          </p:nvPr>
        </p:nvSpPr>
        <p:spPr/>
        <p:txBody>
          <a:bodyPr/>
          <a:lstStyle/>
          <a:p>
            <a:fld id="{DC2492FA-088B-4182-AA81-74E1C35858F4}" type="slidenum">
              <a:rPr lang="en-IN" smtClean="0"/>
              <a:t>‹#›</a:t>
            </a:fld>
            <a:endParaRPr lang="en-IN"/>
          </a:p>
        </p:txBody>
      </p:sp>
    </p:spTree>
    <p:extLst>
      <p:ext uri="{BB962C8B-B14F-4D97-AF65-F5344CB8AC3E}">
        <p14:creationId xmlns:p14="http://schemas.microsoft.com/office/powerpoint/2010/main" val="34189239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7E76E8-B02B-3BAE-2E3F-5304375A2D3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0C35FDF-66ED-EC11-7B14-73A42054161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1C9DF81-DD2A-1F6A-3F19-1981B6401061}"/>
              </a:ext>
            </a:extLst>
          </p:cNvPr>
          <p:cNvSpPr>
            <a:spLocks noGrp="1"/>
          </p:cNvSpPr>
          <p:nvPr>
            <p:ph type="dt" sz="half" idx="10"/>
          </p:nvPr>
        </p:nvSpPr>
        <p:spPr/>
        <p:txBody>
          <a:bodyPr/>
          <a:lstStyle/>
          <a:p>
            <a:fld id="{2D8181EA-1745-4BA4-85B9-723C4CD29FBF}" type="datetimeFigureOut">
              <a:rPr lang="en-IN" smtClean="0"/>
              <a:t>01-03-2025</a:t>
            </a:fld>
            <a:endParaRPr lang="en-IN"/>
          </a:p>
        </p:txBody>
      </p:sp>
      <p:sp>
        <p:nvSpPr>
          <p:cNvPr id="5" name="Footer Placeholder 4">
            <a:extLst>
              <a:ext uri="{FF2B5EF4-FFF2-40B4-BE49-F238E27FC236}">
                <a16:creationId xmlns:a16="http://schemas.microsoft.com/office/drawing/2014/main" id="{FCB2A130-71E9-1577-E37C-7D551B2A2DB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D54039A-F68C-B6F8-B5EC-6D5206844FD6}"/>
              </a:ext>
            </a:extLst>
          </p:cNvPr>
          <p:cNvSpPr>
            <a:spLocks noGrp="1"/>
          </p:cNvSpPr>
          <p:nvPr>
            <p:ph type="sldNum" sz="quarter" idx="12"/>
          </p:nvPr>
        </p:nvSpPr>
        <p:spPr/>
        <p:txBody>
          <a:bodyPr/>
          <a:lstStyle/>
          <a:p>
            <a:fld id="{DC2492FA-088B-4182-AA81-74E1C35858F4}" type="slidenum">
              <a:rPr lang="en-IN" smtClean="0"/>
              <a:t>‹#›</a:t>
            </a:fld>
            <a:endParaRPr lang="en-IN"/>
          </a:p>
        </p:txBody>
      </p:sp>
    </p:spTree>
    <p:extLst>
      <p:ext uri="{BB962C8B-B14F-4D97-AF65-F5344CB8AC3E}">
        <p14:creationId xmlns:p14="http://schemas.microsoft.com/office/powerpoint/2010/main" val="1335083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0550DD-A67F-0FE0-6497-D4C1F3B3EB9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F85E252-3383-A490-ED59-A8786A0F20A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DCCDE0F-6E62-C5C0-41DB-7B4E96C842B7}"/>
              </a:ext>
            </a:extLst>
          </p:cNvPr>
          <p:cNvSpPr>
            <a:spLocks noGrp="1"/>
          </p:cNvSpPr>
          <p:nvPr>
            <p:ph type="dt" sz="half" idx="10"/>
          </p:nvPr>
        </p:nvSpPr>
        <p:spPr/>
        <p:txBody>
          <a:bodyPr/>
          <a:lstStyle/>
          <a:p>
            <a:fld id="{2D8181EA-1745-4BA4-85B9-723C4CD29FBF}" type="datetimeFigureOut">
              <a:rPr lang="en-IN" smtClean="0"/>
              <a:t>01-03-2025</a:t>
            </a:fld>
            <a:endParaRPr lang="en-IN"/>
          </a:p>
        </p:txBody>
      </p:sp>
      <p:sp>
        <p:nvSpPr>
          <p:cNvPr id="5" name="Footer Placeholder 4">
            <a:extLst>
              <a:ext uri="{FF2B5EF4-FFF2-40B4-BE49-F238E27FC236}">
                <a16:creationId xmlns:a16="http://schemas.microsoft.com/office/drawing/2014/main" id="{207DB2B3-B6F9-E556-F6A3-2D1B668E748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55F72F3-94E7-8FA9-D9C3-C58340251DD0}"/>
              </a:ext>
            </a:extLst>
          </p:cNvPr>
          <p:cNvSpPr>
            <a:spLocks noGrp="1"/>
          </p:cNvSpPr>
          <p:nvPr>
            <p:ph type="sldNum" sz="quarter" idx="12"/>
          </p:nvPr>
        </p:nvSpPr>
        <p:spPr/>
        <p:txBody>
          <a:bodyPr/>
          <a:lstStyle/>
          <a:p>
            <a:fld id="{DC2492FA-088B-4182-AA81-74E1C35858F4}" type="slidenum">
              <a:rPr lang="en-IN" smtClean="0"/>
              <a:t>‹#›</a:t>
            </a:fld>
            <a:endParaRPr lang="en-IN"/>
          </a:p>
        </p:txBody>
      </p:sp>
    </p:spTree>
    <p:extLst>
      <p:ext uri="{BB962C8B-B14F-4D97-AF65-F5344CB8AC3E}">
        <p14:creationId xmlns:p14="http://schemas.microsoft.com/office/powerpoint/2010/main" val="10180142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804058-8F5E-5B77-DA98-C7ADFFAAC28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CD7C8BD-309E-090E-BB3B-E7F6223FC99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E196E24-34AB-F1C5-F379-D193F03C6B2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EB457FB-FAF8-C444-583C-F31CDC96E4F8}"/>
              </a:ext>
            </a:extLst>
          </p:cNvPr>
          <p:cNvSpPr>
            <a:spLocks noGrp="1"/>
          </p:cNvSpPr>
          <p:nvPr>
            <p:ph type="dt" sz="half" idx="10"/>
          </p:nvPr>
        </p:nvSpPr>
        <p:spPr/>
        <p:txBody>
          <a:bodyPr/>
          <a:lstStyle/>
          <a:p>
            <a:fld id="{2D8181EA-1745-4BA4-85B9-723C4CD29FBF}" type="datetimeFigureOut">
              <a:rPr lang="en-IN" smtClean="0"/>
              <a:t>01-03-2025</a:t>
            </a:fld>
            <a:endParaRPr lang="en-IN"/>
          </a:p>
        </p:txBody>
      </p:sp>
      <p:sp>
        <p:nvSpPr>
          <p:cNvPr id="6" name="Footer Placeholder 5">
            <a:extLst>
              <a:ext uri="{FF2B5EF4-FFF2-40B4-BE49-F238E27FC236}">
                <a16:creationId xmlns:a16="http://schemas.microsoft.com/office/drawing/2014/main" id="{24F39B59-2B80-7082-8448-93942002459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73D3128-E628-ED41-909D-DF4C8BB27ACD}"/>
              </a:ext>
            </a:extLst>
          </p:cNvPr>
          <p:cNvSpPr>
            <a:spLocks noGrp="1"/>
          </p:cNvSpPr>
          <p:nvPr>
            <p:ph type="sldNum" sz="quarter" idx="12"/>
          </p:nvPr>
        </p:nvSpPr>
        <p:spPr/>
        <p:txBody>
          <a:bodyPr/>
          <a:lstStyle/>
          <a:p>
            <a:fld id="{DC2492FA-088B-4182-AA81-74E1C35858F4}" type="slidenum">
              <a:rPr lang="en-IN" smtClean="0"/>
              <a:t>‹#›</a:t>
            </a:fld>
            <a:endParaRPr lang="en-IN"/>
          </a:p>
        </p:txBody>
      </p:sp>
    </p:spTree>
    <p:extLst>
      <p:ext uri="{BB962C8B-B14F-4D97-AF65-F5344CB8AC3E}">
        <p14:creationId xmlns:p14="http://schemas.microsoft.com/office/powerpoint/2010/main" val="17039684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FA9C35-E3D1-92EB-D782-B5F25A05984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F25E3C2-70E9-E3EC-1BE3-80E09D8B913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88F4322-1E94-3BDB-FEE9-CA905835195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0C8591D-30A1-C5A8-1A26-D1CE0D06896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9D834F2-411F-CCEC-262D-74015C951AB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4518BBE-2E96-1E3A-D5BC-5DFE92EC757C}"/>
              </a:ext>
            </a:extLst>
          </p:cNvPr>
          <p:cNvSpPr>
            <a:spLocks noGrp="1"/>
          </p:cNvSpPr>
          <p:nvPr>
            <p:ph type="dt" sz="half" idx="10"/>
          </p:nvPr>
        </p:nvSpPr>
        <p:spPr/>
        <p:txBody>
          <a:bodyPr/>
          <a:lstStyle/>
          <a:p>
            <a:fld id="{2D8181EA-1745-4BA4-85B9-723C4CD29FBF}" type="datetimeFigureOut">
              <a:rPr lang="en-IN" smtClean="0"/>
              <a:t>01-03-2025</a:t>
            </a:fld>
            <a:endParaRPr lang="en-IN"/>
          </a:p>
        </p:txBody>
      </p:sp>
      <p:sp>
        <p:nvSpPr>
          <p:cNvPr id="8" name="Footer Placeholder 7">
            <a:extLst>
              <a:ext uri="{FF2B5EF4-FFF2-40B4-BE49-F238E27FC236}">
                <a16:creationId xmlns:a16="http://schemas.microsoft.com/office/drawing/2014/main" id="{4657BB01-6222-28D3-B1D1-CC1FBAF3B46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2D007B6-BA45-C882-3473-7F881181BF11}"/>
              </a:ext>
            </a:extLst>
          </p:cNvPr>
          <p:cNvSpPr>
            <a:spLocks noGrp="1"/>
          </p:cNvSpPr>
          <p:nvPr>
            <p:ph type="sldNum" sz="quarter" idx="12"/>
          </p:nvPr>
        </p:nvSpPr>
        <p:spPr/>
        <p:txBody>
          <a:bodyPr/>
          <a:lstStyle/>
          <a:p>
            <a:fld id="{DC2492FA-088B-4182-AA81-74E1C35858F4}" type="slidenum">
              <a:rPr lang="en-IN" smtClean="0"/>
              <a:t>‹#›</a:t>
            </a:fld>
            <a:endParaRPr lang="en-IN"/>
          </a:p>
        </p:txBody>
      </p:sp>
    </p:spTree>
    <p:extLst>
      <p:ext uri="{BB962C8B-B14F-4D97-AF65-F5344CB8AC3E}">
        <p14:creationId xmlns:p14="http://schemas.microsoft.com/office/powerpoint/2010/main" val="2090471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D6FB5-0767-1F61-A1C8-38922AB62F5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B5C8A87-87B0-0CCF-0386-89BB9F8F107A}"/>
              </a:ext>
            </a:extLst>
          </p:cNvPr>
          <p:cNvSpPr>
            <a:spLocks noGrp="1"/>
          </p:cNvSpPr>
          <p:nvPr>
            <p:ph type="dt" sz="half" idx="10"/>
          </p:nvPr>
        </p:nvSpPr>
        <p:spPr/>
        <p:txBody>
          <a:bodyPr/>
          <a:lstStyle/>
          <a:p>
            <a:fld id="{2D8181EA-1745-4BA4-85B9-723C4CD29FBF}" type="datetimeFigureOut">
              <a:rPr lang="en-IN" smtClean="0"/>
              <a:t>01-03-2025</a:t>
            </a:fld>
            <a:endParaRPr lang="en-IN"/>
          </a:p>
        </p:txBody>
      </p:sp>
      <p:sp>
        <p:nvSpPr>
          <p:cNvPr id="4" name="Footer Placeholder 3">
            <a:extLst>
              <a:ext uri="{FF2B5EF4-FFF2-40B4-BE49-F238E27FC236}">
                <a16:creationId xmlns:a16="http://schemas.microsoft.com/office/drawing/2014/main" id="{F7620496-370B-9306-1D64-870E743B48A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A9B521B-3E98-A9A9-EE34-08C87F428CA7}"/>
              </a:ext>
            </a:extLst>
          </p:cNvPr>
          <p:cNvSpPr>
            <a:spLocks noGrp="1"/>
          </p:cNvSpPr>
          <p:nvPr>
            <p:ph type="sldNum" sz="quarter" idx="12"/>
          </p:nvPr>
        </p:nvSpPr>
        <p:spPr/>
        <p:txBody>
          <a:bodyPr/>
          <a:lstStyle/>
          <a:p>
            <a:fld id="{DC2492FA-088B-4182-AA81-74E1C35858F4}" type="slidenum">
              <a:rPr lang="en-IN" smtClean="0"/>
              <a:t>‹#›</a:t>
            </a:fld>
            <a:endParaRPr lang="en-IN"/>
          </a:p>
        </p:txBody>
      </p:sp>
    </p:spTree>
    <p:extLst>
      <p:ext uri="{BB962C8B-B14F-4D97-AF65-F5344CB8AC3E}">
        <p14:creationId xmlns:p14="http://schemas.microsoft.com/office/powerpoint/2010/main" val="42534282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F33D3EF-6979-EA6E-75C5-A3F13A5EA5D9}"/>
              </a:ext>
            </a:extLst>
          </p:cNvPr>
          <p:cNvSpPr>
            <a:spLocks noGrp="1"/>
          </p:cNvSpPr>
          <p:nvPr>
            <p:ph type="dt" sz="half" idx="10"/>
          </p:nvPr>
        </p:nvSpPr>
        <p:spPr/>
        <p:txBody>
          <a:bodyPr/>
          <a:lstStyle/>
          <a:p>
            <a:fld id="{2D8181EA-1745-4BA4-85B9-723C4CD29FBF}" type="datetimeFigureOut">
              <a:rPr lang="en-IN" smtClean="0"/>
              <a:t>01-03-2025</a:t>
            </a:fld>
            <a:endParaRPr lang="en-IN"/>
          </a:p>
        </p:txBody>
      </p:sp>
      <p:sp>
        <p:nvSpPr>
          <p:cNvPr id="3" name="Footer Placeholder 2">
            <a:extLst>
              <a:ext uri="{FF2B5EF4-FFF2-40B4-BE49-F238E27FC236}">
                <a16:creationId xmlns:a16="http://schemas.microsoft.com/office/drawing/2014/main" id="{E3DDFD4B-BD56-1A36-DCC8-2FA31333C0D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8D44FAD-81F4-4E02-F62C-ABC1C139BD87}"/>
              </a:ext>
            </a:extLst>
          </p:cNvPr>
          <p:cNvSpPr>
            <a:spLocks noGrp="1"/>
          </p:cNvSpPr>
          <p:nvPr>
            <p:ph type="sldNum" sz="quarter" idx="12"/>
          </p:nvPr>
        </p:nvSpPr>
        <p:spPr/>
        <p:txBody>
          <a:bodyPr/>
          <a:lstStyle/>
          <a:p>
            <a:fld id="{DC2492FA-088B-4182-AA81-74E1C35858F4}" type="slidenum">
              <a:rPr lang="en-IN" smtClean="0"/>
              <a:t>‹#›</a:t>
            </a:fld>
            <a:endParaRPr lang="en-IN"/>
          </a:p>
        </p:txBody>
      </p:sp>
    </p:spTree>
    <p:extLst>
      <p:ext uri="{BB962C8B-B14F-4D97-AF65-F5344CB8AC3E}">
        <p14:creationId xmlns:p14="http://schemas.microsoft.com/office/powerpoint/2010/main" val="20217990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EA8E3C-A31C-4E16-673B-55EA12E246C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85B4569-E73D-35E3-E545-50C04576411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32A040A-6F0D-DF7E-D70F-17E636958BB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7181B41-325E-B529-67DA-DDF10F5598E3}"/>
              </a:ext>
            </a:extLst>
          </p:cNvPr>
          <p:cNvSpPr>
            <a:spLocks noGrp="1"/>
          </p:cNvSpPr>
          <p:nvPr>
            <p:ph type="dt" sz="half" idx="10"/>
          </p:nvPr>
        </p:nvSpPr>
        <p:spPr/>
        <p:txBody>
          <a:bodyPr/>
          <a:lstStyle/>
          <a:p>
            <a:fld id="{2D8181EA-1745-4BA4-85B9-723C4CD29FBF}" type="datetimeFigureOut">
              <a:rPr lang="en-IN" smtClean="0"/>
              <a:t>01-03-2025</a:t>
            </a:fld>
            <a:endParaRPr lang="en-IN"/>
          </a:p>
        </p:txBody>
      </p:sp>
      <p:sp>
        <p:nvSpPr>
          <p:cNvPr id="6" name="Footer Placeholder 5">
            <a:extLst>
              <a:ext uri="{FF2B5EF4-FFF2-40B4-BE49-F238E27FC236}">
                <a16:creationId xmlns:a16="http://schemas.microsoft.com/office/drawing/2014/main" id="{2DB1DED2-D41E-B63B-632A-3B17E78D7AE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9A54306-2578-09DC-6C0B-C876A9E465CF}"/>
              </a:ext>
            </a:extLst>
          </p:cNvPr>
          <p:cNvSpPr>
            <a:spLocks noGrp="1"/>
          </p:cNvSpPr>
          <p:nvPr>
            <p:ph type="sldNum" sz="quarter" idx="12"/>
          </p:nvPr>
        </p:nvSpPr>
        <p:spPr/>
        <p:txBody>
          <a:bodyPr/>
          <a:lstStyle/>
          <a:p>
            <a:fld id="{DC2492FA-088B-4182-AA81-74E1C35858F4}" type="slidenum">
              <a:rPr lang="en-IN" smtClean="0"/>
              <a:t>‹#›</a:t>
            </a:fld>
            <a:endParaRPr lang="en-IN"/>
          </a:p>
        </p:txBody>
      </p:sp>
    </p:spTree>
    <p:extLst>
      <p:ext uri="{BB962C8B-B14F-4D97-AF65-F5344CB8AC3E}">
        <p14:creationId xmlns:p14="http://schemas.microsoft.com/office/powerpoint/2010/main" val="3192274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C84D67-5900-3A4B-29E1-7923A459B69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AB13106-8BA4-3490-AF46-F43A486CD2A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5224CB2-23AF-AFDF-5EDC-9826876967F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57776D2-6BC0-04E4-77C5-EA677F5C5964}"/>
              </a:ext>
            </a:extLst>
          </p:cNvPr>
          <p:cNvSpPr>
            <a:spLocks noGrp="1"/>
          </p:cNvSpPr>
          <p:nvPr>
            <p:ph type="dt" sz="half" idx="10"/>
          </p:nvPr>
        </p:nvSpPr>
        <p:spPr/>
        <p:txBody>
          <a:bodyPr/>
          <a:lstStyle/>
          <a:p>
            <a:fld id="{2D8181EA-1745-4BA4-85B9-723C4CD29FBF}" type="datetimeFigureOut">
              <a:rPr lang="en-IN" smtClean="0"/>
              <a:t>01-03-2025</a:t>
            </a:fld>
            <a:endParaRPr lang="en-IN"/>
          </a:p>
        </p:txBody>
      </p:sp>
      <p:sp>
        <p:nvSpPr>
          <p:cNvPr id="6" name="Footer Placeholder 5">
            <a:extLst>
              <a:ext uri="{FF2B5EF4-FFF2-40B4-BE49-F238E27FC236}">
                <a16:creationId xmlns:a16="http://schemas.microsoft.com/office/drawing/2014/main" id="{B23EF1D3-7700-1141-3D42-FB779D110CF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6106D55-3BD1-0B81-27B2-B35CFD64D159}"/>
              </a:ext>
            </a:extLst>
          </p:cNvPr>
          <p:cNvSpPr>
            <a:spLocks noGrp="1"/>
          </p:cNvSpPr>
          <p:nvPr>
            <p:ph type="sldNum" sz="quarter" idx="12"/>
          </p:nvPr>
        </p:nvSpPr>
        <p:spPr/>
        <p:txBody>
          <a:bodyPr/>
          <a:lstStyle/>
          <a:p>
            <a:fld id="{DC2492FA-088B-4182-AA81-74E1C35858F4}" type="slidenum">
              <a:rPr lang="en-IN" smtClean="0"/>
              <a:t>‹#›</a:t>
            </a:fld>
            <a:endParaRPr lang="en-IN"/>
          </a:p>
        </p:txBody>
      </p:sp>
    </p:spTree>
    <p:extLst>
      <p:ext uri="{BB962C8B-B14F-4D97-AF65-F5344CB8AC3E}">
        <p14:creationId xmlns:p14="http://schemas.microsoft.com/office/powerpoint/2010/main" val="5621153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D1F98B-3C3C-7271-362C-3BE99DF6DED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C55102D-A2D3-9528-A4AC-4E0AFCF20CE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BBFF116-B5DA-FCDD-5E8E-AE18CF51F2A6}"/>
              </a:ext>
            </a:extLst>
          </p:cNvPr>
          <p:cNvSpPr>
            <a:spLocks noGrp="1"/>
          </p:cNvSpPr>
          <p:nvPr>
            <p:ph type="dt" sz="half" idx="10"/>
          </p:nvPr>
        </p:nvSpPr>
        <p:spPr/>
        <p:txBody>
          <a:bodyPr/>
          <a:lstStyle/>
          <a:p>
            <a:fld id="{2D8181EA-1745-4BA4-85B9-723C4CD29FBF}" type="datetimeFigureOut">
              <a:rPr lang="en-IN" smtClean="0"/>
              <a:t>01-03-2025</a:t>
            </a:fld>
            <a:endParaRPr lang="en-IN"/>
          </a:p>
        </p:txBody>
      </p:sp>
      <p:sp>
        <p:nvSpPr>
          <p:cNvPr id="5" name="Footer Placeholder 4">
            <a:extLst>
              <a:ext uri="{FF2B5EF4-FFF2-40B4-BE49-F238E27FC236}">
                <a16:creationId xmlns:a16="http://schemas.microsoft.com/office/drawing/2014/main" id="{2D7B4B3D-8614-BE30-8CA9-31FD913227A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77A1065-C17F-B1C9-C46F-3DFDA017E740}"/>
              </a:ext>
            </a:extLst>
          </p:cNvPr>
          <p:cNvSpPr>
            <a:spLocks noGrp="1"/>
          </p:cNvSpPr>
          <p:nvPr>
            <p:ph type="sldNum" sz="quarter" idx="12"/>
          </p:nvPr>
        </p:nvSpPr>
        <p:spPr/>
        <p:txBody>
          <a:bodyPr/>
          <a:lstStyle/>
          <a:p>
            <a:fld id="{DC2492FA-088B-4182-AA81-74E1C35858F4}" type="slidenum">
              <a:rPr lang="en-IN" smtClean="0"/>
              <a:t>‹#›</a:t>
            </a:fld>
            <a:endParaRPr lang="en-IN"/>
          </a:p>
        </p:txBody>
      </p:sp>
    </p:spTree>
    <p:extLst>
      <p:ext uri="{BB962C8B-B14F-4D97-AF65-F5344CB8AC3E}">
        <p14:creationId xmlns:p14="http://schemas.microsoft.com/office/powerpoint/2010/main" val="29840845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D7A02CC-673B-45D0-50E0-F108C385F96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A91CE72-D509-BA2D-7A5E-700A247AA91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2D5DAF8-17FD-68F4-A882-BE1308BD1577}"/>
              </a:ext>
            </a:extLst>
          </p:cNvPr>
          <p:cNvSpPr>
            <a:spLocks noGrp="1"/>
          </p:cNvSpPr>
          <p:nvPr>
            <p:ph type="dt" sz="half" idx="10"/>
          </p:nvPr>
        </p:nvSpPr>
        <p:spPr/>
        <p:txBody>
          <a:bodyPr/>
          <a:lstStyle/>
          <a:p>
            <a:fld id="{2D8181EA-1745-4BA4-85B9-723C4CD29FBF}" type="datetimeFigureOut">
              <a:rPr lang="en-IN" smtClean="0"/>
              <a:t>01-03-2025</a:t>
            </a:fld>
            <a:endParaRPr lang="en-IN"/>
          </a:p>
        </p:txBody>
      </p:sp>
      <p:sp>
        <p:nvSpPr>
          <p:cNvPr id="5" name="Footer Placeholder 4">
            <a:extLst>
              <a:ext uri="{FF2B5EF4-FFF2-40B4-BE49-F238E27FC236}">
                <a16:creationId xmlns:a16="http://schemas.microsoft.com/office/drawing/2014/main" id="{2B6C8E3F-7F62-0423-67CC-E3F210AA1C5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ED1E4EA-3819-5BCF-08F5-BFE8828B859B}"/>
              </a:ext>
            </a:extLst>
          </p:cNvPr>
          <p:cNvSpPr>
            <a:spLocks noGrp="1"/>
          </p:cNvSpPr>
          <p:nvPr>
            <p:ph type="sldNum" sz="quarter" idx="12"/>
          </p:nvPr>
        </p:nvSpPr>
        <p:spPr/>
        <p:txBody>
          <a:bodyPr/>
          <a:lstStyle/>
          <a:p>
            <a:fld id="{DC2492FA-088B-4182-AA81-74E1C35858F4}" type="slidenum">
              <a:rPr lang="en-IN" smtClean="0"/>
              <a:t>‹#›</a:t>
            </a:fld>
            <a:endParaRPr lang="en-IN"/>
          </a:p>
        </p:txBody>
      </p:sp>
    </p:spTree>
    <p:extLst>
      <p:ext uri="{BB962C8B-B14F-4D97-AF65-F5344CB8AC3E}">
        <p14:creationId xmlns:p14="http://schemas.microsoft.com/office/powerpoint/2010/main" val="4105086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B7C77EC-0F71-CA18-FC8C-D8E4006A571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B12A624-5B3E-3E45-940A-330C77B4B12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A96DB5D-4E1B-8A69-16D1-85FFC8B6F4D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8181EA-1745-4BA4-85B9-723C4CD29FBF}" type="datetimeFigureOut">
              <a:rPr lang="en-IN" smtClean="0"/>
              <a:t>01-03-2025</a:t>
            </a:fld>
            <a:endParaRPr lang="en-IN"/>
          </a:p>
        </p:txBody>
      </p:sp>
      <p:sp>
        <p:nvSpPr>
          <p:cNvPr id="5" name="Footer Placeholder 4">
            <a:extLst>
              <a:ext uri="{FF2B5EF4-FFF2-40B4-BE49-F238E27FC236}">
                <a16:creationId xmlns:a16="http://schemas.microsoft.com/office/drawing/2014/main" id="{BC97F9E1-26D9-8B6B-410B-48E75C70F01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ADEAFEE3-6F8D-81F8-D2A5-2652F57E0BE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C2492FA-088B-4182-AA81-74E1C35858F4}" type="slidenum">
              <a:rPr lang="en-IN" smtClean="0"/>
              <a:t>‹#›</a:t>
            </a:fld>
            <a:endParaRPr lang="en-IN"/>
          </a:p>
        </p:txBody>
      </p:sp>
    </p:spTree>
    <p:extLst>
      <p:ext uri="{BB962C8B-B14F-4D97-AF65-F5344CB8AC3E}">
        <p14:creationId xmlns:p14="http://schemas.microsoft.com/office/powerpoint/2010/main" val="26041424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58174245-3C4B-E2A1-73F2-18072E9851FE}"/>
              </a:ext>
            </a:extLst>
          </p:cNvPr>
          <p:cNvSpPr>
            <a:spLocks noGrp="1"/>
          </p:cNvSpPr>
          <p:nvPr>
            <p:ph type="subTitle" idx="1"/>
          </p:nvPr>
        </p:nvSpPr>
        <p:spPr>
          <a:xfrm>
            <a:off x="1101213" y="3602037"/>
            <a:ext cx="9566787" cy="2749601"/>
          </a:xfrm>
        </p:spPr>
        <p:txBody>
          <a:bodyPr>
            <a:normAutofit/>
          </a:bodyPr>
          <a:lstStyle/>
          <a:p>
            <a:pPr algn="l"/>
            <a:r>
              <a:rPr lang="en-US" sz="1600" b="1" dirty="0">
                <a:latin typeface="Times New Roman" panose="02020603050405020304" pitchFamily="18" charset="0"/>
                <a:cs typeface="Times New Roman" panose="02020603050405020304" pitchFamily="18" charset="0"/>
              </a:rPr>
              <a:t>Presented by:</a:t>
            </a:r>
          </a:p>
          <a:p>
            <a:pPr algn="l"/>
            <a:r>
              <a:rPr lang="en-US" sz="1600" dirty="0">
                <a:latin typeface="Times New Roman" panose="02020603050405020304" pitchFamily="18" charset="0"/>
                <a:cs typeface="Times New Roman" panose="02020603050405020304" pitchFamily="18" charset="0"/>
              </a:rPr>
              <a:t>B .Prasanna        [22681A0409]</a:t>
            </a:r>
          </a:p>
          <a:p>
            <a:pPr algn="l"/>
            <a:r>
              <a:rPr lang="en-US" sz="1600" dirty="0">
                <a:latin typeface="Times New Roman" panose="02020603050405020304" pitchFamily="18" charset="0"/>
                <a:cs typeface="Times New Roman" panose="02020603050405020304" pitchFamily="18" charset="0"/>
              </a:rPr>
              <a:t>A .Ramya           [22681A0406]</a:t>
            </a:r>
          </a:p>
          <a:p>
            <a:pPr algn="l"/>
            <a:r>
              <a:rPr lang="en-US" sz="1600" dirty="0">
                <a:latin typeface="Times New Roman" panose="02020603050405020304" pitchFamily="18" charset="0"/>
                <a:cs typeface="Times New Roman" panose="02020603050405020304" pitchFamily="18" charset="0"/>
              </a:rPr>
              <a:t>K .</a:t>
            </a:r>
            <a:r>
              <a:rPr lang="en-US" sz="1600" dirty="0" err="1">
                <a:latin typeface="Times New Roman" panose="02020603050405020304" pitchFamily="18" charset="0"/>
                <a:cs typeface="Times New Roman" panose="02020603050405020304" pitchFamily="18" charset="0"/>
              </a:rPr>
              <a:t>Achala</a:t>
            </a:r>
            <a:r>
              <a:rPr lang="en-US" sz="1600" dirty="0">
                <a:latin typeface="Times New Roman" panose="02020603050405020304" pitchFamily="18" charset="0"/>
                <a:cs typeface="Times New Roman" panose="02020603050405020304" pitchFamily="18" charset="0"/>
              </a:rPr>
              <a:t>           [22681A0431]</a:t>
            </a:r>
          </a:p>
          <a:p>
            <a:pPr algn="l"/>
            <a:r>
              <a:rPr lang="en-US" sz="1600" dirty="0">
                <a:latin typeface="Times New Roman" panose="02020603050405020304" pitchFamily="18" charset="0"/>
                <a:cs typeface="Times New Roman" panose="02020603050405020304" pitchFamily="18" charset="0"/>
              </a:rPr>
              <a:t>A .Raghavendra  [22681A0407] </a:t>
            </a:r>
            <a:endParaRPr lang="en-IN" sz="16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C677EDCF-644D-A6BE-3B3F-BC6ADC529C48}"/>
              </a:ext>
            </a:extLst>
          </p:cNvPr>
          <p:cNvSpPr txBox="1"/>
          <p:nvPr/>
        </p:nvSpPr>
        <p:spPr>
          <a:xfrm>
            <a:off x="3048000" y="1415822"/>
            <a:ext cx="6096000" cy="368755"/>
          </a:xfrm>
          <a:prstGeom prst="rect">
            <a:avLst/>
          </a:prstGeom>
          <a:noFill/>
        </p:spPr>
        <p:txBody>
          <a:bodyPr wrap="square">
            <a:spAutoFit/>
          </a:bodyPr>
          <a:lstStyle/>
          <a:p>
            <a:pPr algn="l">
              <a:lnSpc>
                <a:spcPct val="107000"/>
              </a:lnSpc>
              <a:spcAft>
                <a:spcPts val="675"/>
              </a:spcAft>
            </a:pPr>
            <a:r>
              <a:rPr lang="en-IN" sz="1800" kern="100" dirty="0">
                <a:solidFill>
                  <a:srgbClr val="000000"/>
                </a:solidFill>
                <a:effectLst/>
                <a:latin typeface="Times New Roman" panose="02020603050405020304" pitchFamily="18" charset="0"/>
                <a:ea typeface="Times New Roman" panose="02020603050405020304" pitchFamily="18" charset="0"/>
              </a:rPr>
              <a:t> </a:t>
            </a:r>
          </a:p>
        </p:txBody>
      </p:sp>
      <p:pic>
        <p:nvPicPr>
          <p:cNvPr id="7" name="Picture 6">
            <a:extLst>
              <a:ext uri="{FF2B5EF4-FFF2-40B4-BE49-F238E27FC236}">
                <a16:creationId xmlns:a16="http://schemas.microsoft.com/office/drawing/2014/main" id="{1701DF20-5BF2-7502-0F90-73B51442A1C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1213" y="272731"/>
            <a:ext cx="9832258" cy="1511846"/>
          </a:xfrm>
          <a:prstGeom prst="rect">
            <a:avLst/>
          </a:prstGeom>
        </p:spPr>
      </p:pic>
      <p:sp>
        <p:nvSpPr>
          <p:cNvPr id="8" name="TextBox 7">
            <a:extLst>
              <a:ext uri="{FF2B5EF4-FFF2-40B4-BE49-F238E27FC236}">
                <a16:creationId xmlns:a16="http://schemas.microsoft.com/office/drawing/2014/main" id="{823711B5-A907-7B18-79E1-6837B2753B17}"/>
              </a:ext>
            </a:extLst>
          </p:cNvPr>
          <p:cNvSpPr txBox="1"/>
          <p:nvPr/>
        </p:nvSpPr>
        <p:spPr>
          <a:xfrm>
            <a:off x="2182761" y="1967759"/>
            <a:ext cx="8180439" cy="1200329"/>
          </a:xfrm>
          <a:prstGeom prst="rect">
            <a:avLst/>
          </a:prstGeom>
          <a:noFill/>
        </p:spPr>
        <p:txBody>
          <a:bodyPr wrap="square">
            <a:spAutoFit/>
          </a:bodyPr>
          <a:lstStyle/>
          <a:p>
            <a:r>
              <a:rPr lang="en-IN" dirty="0">
                <a:solidFill>
                  <a:srgbClr val="FF0000"/>
                </a:solidFill>
                <a:latin typeface="Times New Roman" panose="02020603050405020304" pitchFamily="18" charset="0"/>
                <a:cs typeface="Times New Roman" panose="02020603050405020304" pitchFamily="18" charset="0"/>
              </a:rPr>
              <a:t>DEPARTMENT OF ELECTRONICS &amp; COMMUNICATION ENGINEERING</a:t>
            </a:r>
          </a:p>
          <a:p>
            <a:pPr algn="ctr"/>
            <a:r>
              <a:rPr lang="en-IN" dirty="0">
                <a:solidFill>
                  <a:srgbClr val="00B0F0"/>
                </a:solidFill>
                <a:latin typeface="Times New Roman" panose="02020603050405020304" pitchFamily="18" charset="0"/>
                <a:cs typeface="Times New Roman" panose="02020603050405020304" pitchFamily="18" charset="0"/>
              </a:rPr>
              <a:t>A MINI PROJECT PRESENTATION </a:t>
            </a:r>
          </a:p>
          <a:p>
            <a:pPr algn="ctr"/>
            <a:r>
              <a:rPr lang="en-IN" dirty="0">
                <a:latin typeface="Times New Roman" panose="02020603050405020304" pitchFamily="18" charset="0"/>
                <a:cs typeface="Times New Roman" panose="02020603050405020304" pitchFamily="18" charset="0"/>
              </a:rPr>
              <a:t>ON</a:t>
            </a:r>
          </a:p>
          <a:p>
            <a:pPr algn="ctr"/>
            <a:r>
              <a:rPr lang="en-IN" dirty="0">
                <a:latin typeface="Times New Roman" panose="02020603050405020304" pitchFamily="18" charset="0"/>
                <a:cs typeface="Times New Roman" panose="02020603050405020304" pitchFamily="18" charset="0"/>
              </a:rPr>
              <a:t> </a:t>
            </a:r>
            <a:r>
              <a:rPr lang="en-IN" dirty="0">
                <a:solidFill>
                  <a:srgbClr val="00B0F0"/>
                </a:solidFill>
                <a:latin typeface="Times New Roman" panose="02020603050405020304" pitchFamily="18" charset="0"/>
                <a:cs typeface="Times New Roman" panose="02020603050405020304" pitchFamily="18" charset="0"/>
              </a:rPr>
              <a:t>SMART FLOOR CLEANING ROBOT BY IOT</a:t>
            </a:r>
          </a:p>
        </p:txBody>
      </p:sp>
      <p:sp>
        <p:nvSpPr>
          <p:cNvPr id="12" name="TextBox 11">
            <a:extLst>
              <a:ext uri="{FF2B5EF4-FFF2-40B4-BE49-F238E27FC236}">
                <a16:creationId xmlns:a16="http://schemas.microsoft.com/office/drawing/2014/main" id="{C0DCC1C5-54D5-3A35-DD20-FF43B2E4D4E2}"/>
              </a:ext>
            </a:extLst>
          </p:cNvPr>
          <p:cNvSpPr txBox="1"/>
          <p:nvPr/>
        </p:nvSpPr>
        <p:spPr>
          <a:xfrm>
            <a:off x="7384026" y="3602037"/>
            <a:ext cx="6096000" cy="923330"/>
          </a:xfrm>
          <a:prstGeom prst="rect">
            <a:avLst/>
          </a:prstGeom>
          <a:noFill/>
        </p:spPr>
        <p:txBody>
          <a:bodyPr wrap="square">
            <a:spAutoFit/>
          </a:bodyPr>
          <a:lstStyle/>
          <a:p>
            <a:pPr algn="ctr"/>
            <a:r>
              <a:rPr lang="en-IN" b="1" dirty="0">
                <a:latin typeface="Times New Roman" panose="02020603050405020304" pitchFamily="18" charset="0"/>
                <a:cs typeface="Times New Roman" panose="02020603050405020304" pitchFamily="18" charset="0"/>
              </a:rPr>
              <a:t>Under the esteemed guidance of:</a:t>
            </a:r>
          </a:p>
          <a:p>
            <a:pPr algn="ctr"/>
            <a:r>
              <a:rPr lang="en-IN" dirty="0">
                <a:latin typeface="Times New Roman" panose="02020603050405020304" pitchFamily="18" charset="0"/>
                <a:cs typeface="Times New Roman" panose="02020603050405020304" pitchFamily="18" charset="0"/>
              </a:rPr>
              <a:t>Mr. B. </a:t>
            </a:r>
            <a:r>
              <a:rPr lang="en-IN" dirty="0" err="1">
                <a:latin typeface="Times New Roman" panose="02020603050405020304" pitchFamily="18" charset="0"/>
                <a:cs typeface="Times New Roman" panose="02020603050405020304" pitchFamily="18" charset="0"/>
              </a:rPr>
              <a:t>Hanumanthu</a:t>
            </a:r>
            <a:endParaRPr lang="en-IN" dirty="0">
              <a:latin typeface="Times New Roman" panose="02020603050405020304" pitchFamily="18" charset="0"/>
              <a:cs typeface="Times New Roman" panose="02020603050405020304" pitchFamily="18" charset="0"/>
            </a:endParaRPr>
          </a:p>
          <a:p>
            <a:pPr algn="ctr"/>
            <a:r>
              <a:rPr lang="en-IN" dirty="0">
                <a:latin typeface="Times New Roman" panose="02020603050405020304" pitchFamily="18" charset="0"/>
                <a:cs typeface="Times New Roman" panose="02020603050405020304" pitchFamily="18" charset="0"/>
              </a:rPr>
              <a:t>Assistant Professor </a:t>
            </a:r>
          </a:p>
        </p:txBody>
      </p:sp>
    </p:spTree>
    <p:extLst>
      <p:ext uri="{BB962C8B-B14F-4D97-AF65-F5344CB8AC3E}">
        <p14:creationId xmlns:p14="http://schemas.microsoft.com/office/powerpoint/2010/main" val="17652482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CDBE4A-A857-8327-8B17-4909B145518D}"/>
              </a:ext>
            </a:extLst>
          </p:cNvPr>
          <p:cNvSpPr>
            <a:spLocks noGrp="1"/>
          </p:cNvSpPr>
          <p:nvPr>
            <p:ph type="title"/>
          </p:nvPr>
        </p:nvSpPr>
        <p:spPr>
          <a:xfrm>
            <a:off x="403123" y="1"/>
            <a:ext cx="10950677" cy="1690688"/>
          </a:xfrm>
        </p:spPr>
        <p:txBody>
          <a:bodyPr>
            <a:normAutofit/>
          </a:bodyPr>
          <a:lstStyle/>
          <a:p>
            <a:r>
              <a:rPr lang="en-US" sz="2000" b="1" u="sng" dirty="0">
                <a:solidFill>
                  <a:schemeClr val="tx1">
                    <a:lumMod val="95000"/>
                    <a:lumOff val="5000"/>
                  </a:schemeClr>
                </a:solidFill>
              </a:rPr>
              <a:t>CONTENTS:</a:t>
            </a:r>
            <a:endParaRPr lang="en-IN" sz="2000" b="1" u="sng" dirty="0">
              <a:solidFill>
                <a:schemeClr val="tx1">
                  <a:lumMod val="95000"/>
                  <a:lumOff val="5000"/>
                </a:schemeClr>
              </a:solidFill>
            </a:endParaRPr>
          </a:p>
        </p:txBody>
      </p:sp>
      <p:sp>
        <p:nvSpPr>
          <p:cNvPr id="3" name="Content Placeholder 2">
            <a:extLst>
              <a:ext uri="{FF2B5EF4-FFF2-40B4-BE49-F238E27FC236}">
                <a16:creationId xmlns:a16="http://schemas.microsoft.com/office/drawing/2014/main" id="{CAA32685-40BA-8608-65E7-93A3F23DE368}"/>
              </a:ext>
            </a:extLst>
          </p:cNvPr>
          <p:cNvSpPr>
            <a:spLocks noGrp="1"/>
          </p:cNvSpPr>
          <p:nvPr>
            <p:ph idx="1"/>
          </p:nvPr>
        </p:nvSpPr>
        <p:spPr>
          <a:xfrm>
            <a:off x="717755" y="1288026"/>
            <a:ext cx="10636045" cy="4888937"/>
          </a:xfrm>
        </p:spPr>
        <p:txBody>
          <a:bodyPr>
            <a:noAutofit/>
          </a:bodyPr>
          <a:lstStyle/>
          <a:p>
            <a:pPr>
              <a:lnSpc>
                <a:spcPct val="100000"/>
              </a:lnSpc>
            </a:pPr>
            <a:r>
              <a:rPr lang="en-US" sz="1800" dirty="0">
                <a:latin typeface="Times New Roman" panose="02020603050405020304" pitchFamily="18" charset="0"/>
                <a:cs typeface="Times New Roman" panose="02020603050405020304" pitchFamily="18" charset="0"/>
              </a:rPr>
              <a:t>Abstract</a:t>
            </a:r>
          </a:p>
          <a:p>
            <a:pPr>
              <a:lnSpc>
                <a:spcPct val="100000"/>
              </a:lnSpc>
            </a:pPr>
            <a:r>
              <a:rPr lang="en-US" sz="1800">
                <a:latin typeface="Times New Roman" panose="02020603050405020304" pitchFamily="18" charset="0"/>
                <a:cs typeface="Times New Roman" panose="02020603050405020304" pitchFamily="18" charset="0"/>
              </a:rPr>
              <a:t>Existing system</a:t>
            </a:r>
          </a:p>
          <a:p>
            <a:pPr>
              <a:lnSpc>
                <a:spcPct val="100000"/>
              </a:lnSpc>
            </a:pPr>
            <a:r>
              <a:rPr lang="en-US" sz="1800">
                <a:latin typeface="Times New Roman" panose="02020603050405020304" pitchFamily="18" charset="0"/>
                <a:cs typeface="Times New Roman" panose="02020603050405020304" pitchFamily="18" charset="0"/>
              </a:rPr>
              <a:t>Proposed system</a:t>
            </a:r>
            <a:endParaRPr lang="en-US" sz="1800" dirty="0">
              <a:latin typeface="Times New Roman" panose="02020603050405020304" pitchFamily="18" charset="0"/>
              <a:cs typeface="Times New Roman" panose="02020603050405020304" pitchFamily="18" charset="0"/>
            </a:endParaRPr>
          </a:p>
          <a:p>
            <a:pPr>
              <a:lnSpc>
                <a:spcPct val="100000"/>
              </a:lnSpc>
            </a:pPr>
            <a:r>
              <a:rPr lang="en-US" sz="1800" dirty="0">
                <a:latin typeface="Times New Roman" panose="02020603050405020304" pitchFamily="18" charset="0"/>
                <a:cs typeface="Times New Roman" panose="02020603050405020304" pitchFamily="18" charset="0"/>
              </a:rPr>
              <a:t>Block Diagram</a:t>
            </a:r>
          </a:p>
          <a:p>
            <a:pPr>
              <a:lnSpc>
                <a:spcPct val="100000"/>
              </a:lnSpc>
            </a:pPr>
            <a:r>
              <a:rPr lang="en-US" sz="1800" dirty="0">
                <a:latin typeface="Times New Roman" panose="02020603050405020304" pitchFamily="18" charset="0"/>
                <a:cs typeface="Times New Roman" panose="02020603050405020304" pitchFamily="18" charset="0"/>
              </a:rPr>
              <a:t>Components</a:t>
            </a:r>
          </a:p>
          <a:p>
            <a:pPr>
              <a:lnSpc>
                <a:spcPct val="100000"/>
              </a:lnSpc>
            </a:pPr>
            <a:r>
              <a:rPr lang="en-US" sz="1800">
                <a:latin typeface="Times New Roman" panose="02020603050405020304" pitchFamily="18" charset="0"/>
                <a:cs typeface="Times New Roman" panose="02020603050405020304" pitchFamily="18" charset="0"/>
              </a:rPr>
              <a:t>Working principle</a:t>
            </a:r>
            <a:endParaRPr lang="en-US" sz="1800" dirty="0">
              <a:latin typeface="Times New Roman" panose="02020603050405020304" pitchFamily="18" charset="0"/>
              <a:cs typeface="Times New Roman" panose="02020603050405020304" pitchFamily="18" charset="0"/>
            </a:endParaRPr>
          </a:p>
          <a:p>
            <a:pPr>
              <a:lnSpc>
                <a:spcPct val="100000"/>
              </a:lnSpc>
            </a:pPr>
            <a:r>
              <a:rPr lang="en-US" sz="1800" dirty="0">
                <a:latin typeface="Times New Roman" panose="02020603050405020304" pitchFamily="18" charset="0"/>
                <a:cs typeface="Times New Roman" panose="02020603050405020304" pitchFamily="18" charset="0"/>
              </a:rPr>
              <a:t>Applications</a:t>
            </a:r>
          </a:p>
          <a:p>
            <a:pPr>
              <a:lnSpc>
                <a:spcPct val="100000"/>
              </a:lnSpc>
            </a:pPr>
            <a:r>
              <a:rPr lang="en-US" sz="1800" dirty="0">
                <a:latin typeface="Times New Roman" panose="02020603050405020304" pitchFamily="18" charset="0"/>
                <a:cs typeface="Times New Roman" panose="02020603050405020304" pitchFamily="18" charset="0"/>
              </a:rPr>
              <a:t>Advantages</a:t>
            </a:r>
          </a:p>
          <a:p>
            <a:pPr>
              <a:lnSpc>
                <a:spcPct val="100000"/>
              </a:lnSpc>
            </a:pPr>
            <a:r>
              <a:rPr lang="en-US" sz="1800" dirty="0">
                <a:latin typeface="Times New Roman" panose="02020603050405020304" pitchFamily="18" charset="0"/>
                <a:cs typeface="Times New Roman" panose="02020603050405020304" pitchFamily="18" charset="0"/>
              </a:rPr>
              <a:t>Expected Results</a:t>
            </a:r>
          </a:p>
          <a:p>
            <a:pPr>
              <a:lnSpc>
                <a:spcPct val="100000"/>
              </a:lnSpc>
            </a:pPr>
            <a:r>
              <a:rPr lang="en-US" sz="1800" dirty="0">
                <a:latin typeface="Times New Roman" panose="02020603050405020304" pitchFamily="18" charset="0"/>
                <a:cs typeface="Times New Roman" panose="02020603050405020304" pitchFamily="18" charset="0"/>
              </a:rPr>
              <a:t>conclusion</a:t>
            </a:r>
          </a:p>
          <a:p>
            <a:pPr>
              <a:lnSpc>
                <a:spcPct val="100000"/>
              </a:lnSpc>
            </a:pPr>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060020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3D223-2804-8A6F-E492-2A39A8054418}"/>
              </a:ext>
            </a:extLst>
          </p:cNvPr>
          <p:cNvSpPr>
            <a:spLocks noGrp="1"/>
          </p:cNvSpPr>
          <p:nvPr>
            <p:ph type="ctrTitle"/>
          </p:nvPr>
        </p:nvSpPr>
        <p:spPr>
          <a:xfrm>
            <a:off x="-3126658" y="168635"/>
            <a:ext cx="9576619" cy="1021069"/>
          </a:xfrm>
        </p:spPr>
        <p:txBody>
          <a:bodyPr>
            <a:normAutofit/>
          </a:bodyPr>
          <a:lstStyle/>
          <a:p>
            <a:r>
              <a:rPr lang="en-US" sz="2000" b="1" u="sng" dirty="0">
                <a:latin typeface="Times New Roman" panose="02020603050405020304" pitchFamily="18" charset="0"/>
                <a:cs typeface="Times New Roman" panose="02020603050405020304" pitchFamily="18" charset="0"/>
              </a:rPr>
              <a:t>ABSTRACT:</a:t>
            </a:r>
            <a:endParaRPr lang="en-IN" sz="2000" b="1" u="sng"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BAD93D13-C783-00E2-6BD0-26CF50A9AFE5}"/>
              </a:ext>
            </a:extLst>
          </p:cNvPr>
          <p:cNvSpPr txBox="1"/>
          <p:nvPr/>
        </p:nvSpPr>
        <p:spPr>
          <a:xfrm>
            <a:off x="1170038" y="1475044"/>
            <a:ext cx="9851923" cy="3371885"/>
          </a:xfrm>
          <a:prstGeom prst="rect">
            <a:avLst/>
          </a:prstGeom>
          <a:noFill/>
        </p:spPr>
        <p:txBody>
          <a:bodyPr wrap="square">
            <a:spAutoFit/>
          </a:bodyPr>
          <a:lstStyle/>
          <a:p>
            <a:pPr algn="just">
              <a:lnSpc>
                <a:spcPct val="150000"/>
              </a:lnSpc>
            </a:pPr>
            <a:r>
              <a:rPr lang="en-IN" sz="1800" dirty="0">
                <a:solidFill>
                  <a:srgbClr val="000000"/>
                </a:solidFill>
                <a:effectLst/>
                <a:latin typeface="Times New Roman" panose="02020603050405020304" pitchFamily="18" charset="0"/>
                <a:ea typeface="Times New Roman" panose="02020603050405020304" pitchFamily="18" charset="0"/>
              </a:rPr>
              <a:t>The floor cleaning robot is aims to create an autonomous robot that can clean floors without human intervention. Households of today are becoming smarter and more automated cleaning of floor is very important role in our health and this robot reduces man power requirement. This project is used for domestic purpose to clean the surface automatically. </a:t>
            </a:r>
          </a:p>
          <a:p>
            <a:pPr algn="just">
              <a:lnSpc>
                <a:spcPct val="150000"/>
              </a:lnSpc>
            </a:pPr>
            <a:r>
              <a:rPr lang="en-IN" sz="1800" dirty="0">
                <a:solidFill>
                  <a:srgbClr val="000000"/>
                </a:solidFill>
                <a:effectLst/>
                <a:latin typeface="Times New Roman" panose="02020603050405020304" pitchFamily="18" charset="0"/>
                <a:ea typeface="Times New Roman" panose="02020603050405020304" pitchFamily="18" charset="0"/>
              </a:rPr>
              <a:t>When it’s turned on it clears the dust by moving around the surface as it passes over it sensors are used to avoid obstacles at the same time brushes attached to the motors to cleans the surface. The approximate battery life is expected to be 45 minutes. This can be useful in improving the lifestyle of mankind. The robot returns to its charging station when the battery is low ensuring continuous operation.</a:t>
            </a:r>
            <a:endParaRPr lang="en-IN" dirty="0"/>
          </a:p>
        </p:txBody>
      </p:sp>
    </p:spTree>
    <p:extLst>
      <p:ext uri="{BB962C8B-B14F-4D97-AF65-F5344CB8AC3E}">
        <p14:creationId xmlns:p14="http://schemas.microsoft.com/office/powerpoint/2010/main" val="34207369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BB3EEA-9EFF-4FCF-288F-46A5DDAC600F}"/>
              </a:ext>
            </a:extLst>
          </p:cNvPr>
          <p:cNvSpPr>
            <a:spLocks noGrp="1"/>
          </p:cNvSpPr>
          <p:nvPr>
            <p:ph type="title"/>
          </p:nvPr>
        </p:nvSpPr>
        <p:spPr>
          <a:xfrm>
            <a:off x="169606" y="-254307"/>
            <a:ext cx="10515600" cy="1325563"/>
          </a:xfrm>
        </p:spPr>
        <p:txBody>
          <a:bodyPr>
            <a:normAutofit/>
          </a:bodyPr>
          <a:lstStyle/>
          <a:p>
            <a:r>
              <a:rPr lang="en-US" sz="2000" b="1" u="sng" dirty="0">
                <a:latin typeface="Times New Roman" panose="02020603050405020304" pitchFamily="18" charset="0"/>
                <a:cs typeface="Times New Roman" panose="02020603050405020304" pitchFamily="18" charset="0"/>
              </a:rPr>
              <a:t>EXISTING SYSYTEM:</a:t>
            </a:r>
            <a:endParaRPr lang="en-IN" sz="2000" b="1" u="sng"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5F9CCBD0-56D7-4A33-136F-42F9257DDF21}"/>
              </a:ext>
            </a:extLst>
          </p:cNvPr>
          <p:cNvSpPr>
            <a:spLocks noGrp="1"/>
          </p:cNvSpPr>
          <p:nvPr>
            <p:ph idx="1"/>
          </p:nvPr>
        </p:nvSpPr>
        <p:spPr>
          <a:xfrm>
            <a:off x="631723" y="675251"/>
            <a:ext cx="10515600" cy="4351338"/>
          </a:xfrm>
        </p:spPr>
        <p:txBody>
          <a:bodyPr>
            <a:noAutofit/>
          </a:bodyPr>
          <a:lstStyle/>
          <a:p>
            <a:pPr marL="0" indent="0">
              <a:lnSpc>
                <a:spcPct val="120000"/>
              </a:lnSpc>
              <a:buNone/>
            </a:pPr>
            <a:r>
              <a:rPr lang="en-US" sz="1800" dirty="0">
                <a:latin typeface="Times New Roman" panose="02020603050405020304" pitchFamily="18" charset="0"/>
                <a:cs typeface="Times New Roman" panose="02020603050405020304" pitchFamily="18" charset="0"/>
              </a:rPr>
              <a:t>Here’s a description of the current methods used to solve the problems of floor cleaning robot using </a:t>
            </a:r>
            <a:r>
              <a:rPr lang="en-US" sz="1800" dirty="0" err="1">
                <a:latin typeface="Times New Roman" panose="02020603050405020304" pitchFamily="18" charset="0"/>
                <a:cs typeface="Times New Roman" panose="02020603050405020304" pitchFamily="18" charset="0"/>
              </a:rPr>
              <a:t>Iot</a:t>
            </a:r>
            <a:r>
              <a:rPr lang="en-US" sz="1800" dirty="0">
                <a:latin typeface="Times New Roman" panose="02020603050405020304" pitchFamily="18" charset="0"/>
                <a:cs typeface="Times New Roman" panose="02020603050405020304" pitchFamily="18" charset="0"/>
              </a:rPr>
              <a:t>:</a:t>
            </a:r>
          </a:p>
          <a:p>
            <a:pPr>
              <a:lnSpc>
                <a:spcPct val="120000"/>
              </a:lnSpc>
            </a:pPr>
            <a:r>
              <a:rPr lang="en-US" sz="1800" dirty="0">
                <a:latin typeface="Times New Roman" panose="02020603050405020304" pitchFamily="18" charset="0"/>
                <a:cs typeface="Times New Roman" panose="02020603050405020304" pitchFamily="18" charset="0"/>
              </a:rPr>
              <a:t>Navigation and mapping</a:t>
            </a:r>
          </a:p>
          <a:p>
            <a:pPr>
              <a:lnSpc>
                <a:spcPct val="120000"/>
              </a:lnSpc>
            </a:pPr>
            <a:r>
              <a:rPr lang="en-US" sz="1800" dirty="0">
                <a:latin typeface="Times New Roman" panose="02020603050405020304" pitchFamily="18" charset="0"/>
                <a:cs typeface="Times New Roman" panose="02020603050405020304" pitchFamily="18" charset="0"/>
              </a:rPr>
              <a:t>Cleaning path optimization </a:t>
            </a:r>
          </a:p>
          <a:p>
            <a:pPr>
              <a:lnSpc>
                <a:spcPct val="120000"/>
              </a:lnSpc>
            </a:pPr>
            <a:r>
              <a:rPr lang="en-US" sz="1800" dirty="0" err="1">
                <a:latin typeface="Times New Roman" panose="02020603050405020304" pitchFamily="18" charset="0"/>
                <a:cs typeface="Times New Roman" panose="02020603050405020304" pitchFamily="18" charset="0"/>
              </a:rPr>
              <a:t>Iot</a:t>
            </a:r>
            <a:r>
              <a:rPr lang="en-US" sz="1800" dirty="0">
                <a:latin typeface="Times New Roman" panose="02020603050405020304" pitchFamily="18" charset="0"/>
                <a:cs typeface="Times New Roman" panose="02020603050405020304" pitchFamily="18" charset="0"/>
              </a:rPr>
              <a:t> connectivity</a:t>
            </a:r>
          </a:p>
          <a:p>
            <a:pPr>
              <a:lnSpc>
                <a:spcPct val="120000"/>
              </a:lnSpc>
            </a:pPr>
            <a:r>
              <a:rPr lang="en-US" sz="1800" dirty="0">
                <a:latin typeface="Times New Roman" panose="02020603050405020304" pitchFamily="18" charset="0"/>
                <a:cs typeface="Times New Roman" panose="02020603050405020304" pitchFamily="18" charset="0"/>
              </a:rPr>
              <a:t>Sensors and Actuators</a:t>
            </a:r>
          </a:p>
          <a:p>
            <a:pPr>
              <a:lnSpc>
                <a:spcPct val="120000"/>
              </a:lnSpc>
            </a:pPr>
            <a:r>
              <a:rPr lang="en-US" sz="1800" dirty="0">
                <a:latin typeface="Times New Roman" panose="02020603050405020304" pitchFamily="18" charset="0"/>
                <a:cs typeface="Times New Roman" panose="02020603050405020304" pitchFamily="18" charset="0"/>
              </a:rPr>
              <a:t>Power management</a:t>
            </a:r>
          </a:p>
          <a:p>
            <a:pPr>
              <a:lnSpc>
                <a:spcPct val="120000"/>
              </a:lnSpc>
            </a:pPr>
            <a:r>
              <a:rPr lang="en-US" sz="1800" dirty="0">
                <a:latin typeface="Times New Roman" panose="02020603050405020304" pitchFamily="18" charset="0"/>
                <a:cs typeface="Times New Roman" panose="02020603050405020304" pitchFamily="18" charset="0"/>
              </a:rPr>
              <a:t>Security and Privacy</a:t>
            </a:r>
          </a:p>
          <a:p>
            <a:pPr marL="0" indent="0">
              <a:lnSpc>
                <a:spcPct val="120000"/>
              </a:lnSpc>
              <a:buNone/>
            </a:pPr>
            <a:r>
              <a:rPr lang="en-US" sz="1800" b="1" dirty="0">
                <a:latin typeface="Times New Roman" panose="02020603050405020304" pitchFamily="18" charset="0"/>
                <a:cs typeface="Times New Roman" panose="02020603050405020304" pitchFamily="18" charset="0"/>
              </a:rPr>
              <a:t>Limitations:</a:t>
            </a:r>
          </a:p>
          <a:p>
            <a:pPr>
              <a:lnSpc>
                <a:spcPct val="120000"/>
              </a:lnSpc>
            </a:pPr>
            <a:r>
              <a:rPr lang="en-US" sz="1800" dirty="0">
                <a:latin typeface="Times New Roman" panose="02020603050405020304" pitchFamily="18" charset="0"/>
                <a:cs typeface="Times New Roman" panose="02020603050405020304" pitchFamily="18" charset="0"/>
              </a:rPr>
              <a:t>Noise and disturbance</a:t>
            </a:r>
          </a:p>
          <a:p>
            <a:pPr>
              <a:lnSpc>
                <a:spcPct val="120000"/>
              </a:lnSpc>
            </a:pPr>
            <a:r>
              <a:rPr lang="en-US" sz="1800" dirty="0">
                <a:latin typeface="Times New Roman" panose="02020603050405020304" pitchFamily="18" charset="0"/>
                <a:cs typeface="Times New Roman" panose="02020603050405020304" pitchFamily="18" charset="0"/>
              </a:rPr>
              <a:t>Complexity</a:t>
            </a:r>
          </a:p>
          <a:p>
            <a:pPr>
              <a:lnSpc>
                <a:spcPct val="120000"/>
              </a:lnSpc>
            </a:pPr>
            <a:r>
              <a:rPr lang="en-US" sz="1800" dirty="0">
                <a:latin typeface="Times New Roman" panose="02020603050405020304" pitchFamily="18" charset="0"/>
                <a:cs typeface="Times New Roman" panose="02020603050405020304" pitchFamily="18" charset="0"/>
              </a:rPr>
              <a:t>Repair costs</a:t>
            </a:r>
          </a:p>
          <a:p>
            <a:pPr>
              <a:lnSpc>
                <a:spcPct val="120000"/>
              </a:lnSpc>
            </a:pPr>
            <a:r>
              <a:rPr lang="en-US" sz="1800" dirty="0">
                <a:latin typeface="Times New Roman" panose="02020603050405020304" pitchFamily="18" charset="0"/>
                <a:cs typeface="Times New Roman" panose="02020603050405020304" pitchFamily="18" charset="0"/>
              </a:rPr>
              <a:t>Connectivity issues</a:t>
            </a:r>
          </a:p>
          <a:p>
            <a:pPr marL="0" indent="0">
              <a:lnSpc>
                <a:spcPct val="120000"/>
              </a:lnSpc>
              <a:buNone/>
            </a:pPr>
            <a:r>
              <a:rPr lang="en-US" sz="1800" dirty="0">
                <a:latin typeface="Times New Roman" panose="02020603050405020304" pitchFamily="18" charset="0"/>
                <a:cs typeface="Times New Roman" panose="02020603050405020304" pitchFamily="18" charset="0"/>
              </a:rPr>
              <a:t> </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157548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C05B47-01F6-009C-C25C-32795C830FA8}"/>
              </a:ext>
            </a:extLst>
          </p:cNvPr>
          <p:cNvSpPr>
            <a:spLocks noGrp="1"/>
          </p:cNvSpPr>
          <p:nvPr>
            <p:ph type="title"/>
          </p:nvPr>
        </p:nvSpPr>
        <p:spPr>
          <a:xfrm>
            <a:off x="533400" y="-126488"/>
            <a:ext cx="10515600" cy="1325563"/>
          </a:xfrm>
        </p:spPr>
        <p:txBody>
          <a:bodyPr>
            <a:normAutofit/>
          </a:bodyPr>
          <a:lstStyle/>
          <a:p>
            <a:r>
              <a:rPr lang="en-US" sz="2000" b="1" u="sng" dirty="0">
                <a:latin typeface="Times New Roman" panose="02020603050405020304" pitchFamily="18" charset="0"/>
                <a:cs typeface="Times New Roman" panose="02020603050405020304" pitchFamily="18" charset="0"/>
              </a:rPr>
              <a:t>PROPOSED SYSTEM:</a:t>
            </a:r>
            <a:endParaRPr lang="en-IN" sz="2000" b="1" u="sng"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54D0543-FC2A-797A-7625-98607E54E428}"/>
              </a:ext>
            </a:extLst>
          </p:cNvPr>
          <p:cNvSpPr>
            <a:spLocks noGrp="1"/>
          </p:cNvSpPr>
          <p:nvPr>
            <p:ph idx="1"/>
          </p:nvPr>
        </p:nvSpPr>
        <p:spPr>
          <a:xfrm>
            <a:off x="973282" y="1029212"/>
            <a:ext cx="10515600" cy="4351338"/>
          </a:xfrm>
        </p:spPr>
        <p:txBody>
          <a:bodyPr>
            <a:normAutofit fontScale="92500" lnSpcReduction="10000"/>
          </a:bodyPr>
          <a:lstStyle/>
          <a:p>
            <a:pPr marL="0" indent="0">
              <a:lnSpc>
                <a:spcPct val="150000"/>
              </a:lnSpc>
              <a:buNone/>
            </a:pPr>
            <a:r>
              <a:rPr lang="en-US" sz="1800" dirty="0">
                <a:latin typeface="Times New Roman" panose="02020603050405020304" pitchFamily="18" charset="0"/>
                <a:cs typeface="Times New Roman" panose="02020603050405020304" pitchFamily="18" charset="0"/>
              </a:rPr>
              <a:t>The proposed system “smart clean “ is a </a:t>
            </a:r>
            <a:r>
              <a:rPr lang="en-US" sz="1800" dirty="0" err="1">
                <a:latin typeface="Times New Roman" panose="02020603050405020304" pitchFamily="18" charset="0"/>
                <a:cs typeface="Times New Roman" panose="02020603050405020304" pitchFamily="18" charset="0"/>
              </a:rPr>
              <a:t>WiFi</a:t>
            </a:r>
            <a:r>
              <a:rPr lang="en-US" sz="1800" dirty="0">
                <a:latin typeface="Times New Roman" panose="02020603050405020304" pitchFamily="18" charset="0"/>
                <a:cs typeface="Times New Roman" panose="02020603050405020304" pitchFamily="18" charset="0"/>
              </a:rPr>
              <a:t> enables, </a:t>
            </a:r>
            <a:r>
              <a:rPr lang="en-US" sz="1800" dirty="0" err="1">
                <a:latin typeface="Times New Roman" panose="02020603050405020304" pitchFamily="18" charset="0"/>
                <a:cs typeface="Times New Roman" panose="02020603050405020304" pitchFamily="18" charset="0"/>
              </a:rPr>
              <a:t>Iot</a:t>
            </a:r>
            <a:r>
              <a:rPr lang="en-US" sz="1800" dirty="0">
                <a:latin typeface="Times New Roman" panose="02020603050405020304" pitchFamily="18" charset="0"/>
                <a:cs typeface="Times New Roman" panose="02020603050405020304" pitchFamily="18" charset="0"/>
              </a:rPr>
              <a:t> based smart cleaning robot designed to efficiency clean floors while minimizing user intervention.</a:t>
            </a:r>
          </a:p>
          <a:p>
            <a:pPr>
              <a:lnSpc>
                <a:spcPct val="150000"/>
              </a:lnSpc>
            </a:pPr>
            <a:r>
              <a:rPr lang="en-US" sz="1800" dirty="0">
                <a:latin typeface="Times New Roman" panose="02020603050405020304" pitchFamily="18" charset="0"/>
                <a:cs typeface="Times New Roman" panose="02020603050405020304" pitchFamily="18" charset="0"/>
              </a:rPr>
              <a:t>Advanced sensors</a:t>
            </a:r>
          </a:p>
          <a:p>
            <a:pPr>
              <a:lnSpc>
                <a:spcPct val="150000"/>
              </a:lnSpc>
            </a:pPr>
            <a:r>
              <a:rPr lang="en-US" sz="1800" dirty="0">
                <a:latin typeface="Times New Roman" panose="02020603050405020304" pitchFamily="18" charset="0"/>
                <a:cs typeface="Times New Roman" panose="02020603050405020304" pitchFamily="18" charset="0"/>
              </a:rPr>
              <a:t>Data analytic</a:t>
            </a:r>
          </a:p>
          <a:p>
            <a:pPr>
              <a:lnSpc>
                <a:spcPct val="150000"/>
              </a:lnSpc>
            </a:pPr>
            <a:r>
              <a:rPr lang="en-US" sz="1800" dirty="0">
                <a:latin typeface="Times New Roman" panose="02020603050405020304" pitchFamily="18" charset="0"/>
                <a:cs typeface="Times New Roman" panose="02020603050405020304" pitchFamily="18" charset="0"/>
              </a:rPr>
              <a:t>Voice Assistant Integration</a:t>
            </a:r>
          </a:p>
          <a:p>
            <a:pPr>
              <a:lnSpc>
                <a:spcPct val="150000"/>
              </a:lnSpc>
            </a:pPr>
            <a:r>
              <a:rPr lang="en-US" sz="1800" dirty="0">
                <a:latin typeface="Times New Roman" panose="02020603050405020304" pitchFamily="18" charset="0"/>
                <a:cs typeface="Times New Roman" panose="02020603050405020304" pitchFamily="18" charset="0"/>
              </a:rPr>
              <a:t>Real-time Notification</a:t>
            </a:r>
          </a:p>
          <a:p>
            <a:pPr>
              <a:lnSpc>
                <a:spcPct val="150000"/>
              </a:lnSpc>
            </a:pPr>
            <a:r>
              <a:rPr lang="en-US" sz="1800" dirty="0">
                <a:latin typeface="Times New Roman" panose="02020603050405020304" pitchFamily="18" charset="0"/>
                <a:cs typeface="Times New Roman" panose="02020603050405020304" pitchFamily="18" charset="0"/>
              </a:rPr>
              <a:t>Mapping and Navigation</a:t>
            </a:r>
          </a:p>
          <a:p>
            <a:pPr marL="0" indent="0">
              <a:lnSpc>
                <a:spcPct val="150000"/>
              </a:lnSpc>
              <a:buNone/>
            </a:pPr>
            <a:endParaRPr lang="en-US" sz="1800" dirty="0">
              <a:latin typeface="Times New Roman" panose="02020603050405020304" pitchFamily="18" charset="0"/>
              <a:cs typeface="Times New Roman" panose="02020603050405020304" pitchFamily="18" charset="0"/>
            </a:endParaRPr>
          </a:p>
          <a:p>
            <a:pPr marL="0" indent="0">
              <a:lnSpc>
                <a:spcPct val="150000"/>
              </a:lnSpc>
              <a:buNone/>
            </a:pPr>
            <a:r>
              <a:rPr lang="en-US" sz="1800" dirty="0">
                <a:latin typeface="Times New Roman" panose="02020603050405020304" pitchFamily="18" charset="0"/>
                <a:cs typeface="Times New Roman" panose="02020603050405020304" pitchFamily="18" charset="0"/>
              </a:rPr>
              <a:t> </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846725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65CA45-2796-B86A-166D-DEC9AC04D8CB}"/>
              </a:ext>
            </a:extLst>
          </p:cNvPr>
          <p:cNvSpPr>
            <a:spLocks noGrp="1"/>
          </p:cNvSpPr>
          <p:nvPr>
            <p:ph type="title"/>
          </p:nvPr>
        </p:nvSpPr>
        <p:spPr/>
        <p:txBody>
          <a:bodyPr>
            <a:normAutofit/>
          </a:bodyPr>
          <a:lstStyle/>
          <a:p>
            <a:r>
              <a:rPr lang="en-US" sz="2000" b="1" u="sng" dirty="0">
                <a:latin typeface="Times New Roman" panose="02020603050405020304" pitchFamily="18" charset="0"/>
                <a:cs typeface="Times New Roman" panose="02020603050405020304" pitchFamily="18" charset="0"/>
              </a:rPr>
              <a:t>BLOCK DIAGRAM:</a:t>
            </a:r>
            <a:endParaRPr lang="en-IN" sz="2000" b="1" u="sng" dirty="0">
              <a:latin typeface="Times New Roman" panose="02020603050405020304" pitchFamily="18" charset="0"/>
              <a:cs typeface="Times New Roman" panose="02020603050405020304" pitchFamily="18" charset="0"/>
            </a:endParaRPr>
          </a:p>
        </p:txBody>
      </p:sp>
      <p:pic>
        <p:nvPicPr>
          <p:cNvPr id="4" name="Content Placeholder 3">
            <a:extLst>
              <a:ext uri="{FF2B5EF4-FFF2-40B4-BE49-F238E27FC236}">
                <a16:creationId xmlns:a16="http://schemas.microsoft.com/office/drawing/2014/main" id="{510367AF-5334-5863-BB00-28A391960DC3}"/>
              </a:ext>
            </a:extLst>
          </p:cNvPr>
          <p:cNvPicPr>
            <a:picLocks noGrp="1"/>
          </p:cNvPicPr>
          <p:nvPr>
            <p:ph idx="1"/>
          </p:nvPr>
        </p:nvPicPr>
        <p:blipFill>
          <a:blip r:embed="rId2"/>
          <a:stretch>
            <a:fillRect/>
          </a:stretch>
        </p:blipFill>
        <p:spPr>
          <a:xfrm>
            <a:off x="1465006" y="1504337"/>
            <a:ext cx="7775061" cy="4670321"/>
          </a:xfrm>
          <a:prstGeom prst="rect">
            <a:avLst/>
          </a:prstGeom>
        </p:spPr>
      </p:pic>
    </p:spTree>
    <p:extLst>
      <p:ext uri="{BB962C8B-B14F-4D97-AF65-F5344CB8AC3E}">
        <p14:creationId xmlns:p14="http://schemas.microsoft.com/office/powerpoint/2010/main" val="3780063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9DAA6-1FC8-3040-4BD0-F8E8209AAB76}"/>
              </a:ext>
            </a:extLst>
          </p:cNvPr>
          <p:cNvSpPr>
            <a:spLocks noGrp="1"/>
          </p:cNvSpPr>
          <p:nvPr>
            <p:ph type="title"/>
          </p:nvPr>
        </p:nvSpPr>
        <p:spPr>
          <a:xfrm>
            <a:off x="484238" y="109488"/>
            <a:ext cx="6958781" cy="824578"/>
          </a:xfrm>
        </p:spPr>
        <p:txBody>
          <a:bodyPr>
            <a:normAutofit/>
          </a:bodyPr>
          <a:lstStyle/>
          <a:p>
            <a:r>
              <a:rPr lang="en-US" sz="2000" b="1" u="sng" dirty="0">
                <a:latin typeface="Times New Roman" panose="02020603050405020304" pitchFamily="18" charset="0"/>
                <a:cs typeface="Times New Roman" panose="02020603050405020304" pitchFamily="18" charset="0"/>
              </a:rPr>
              <a:t>COMPONENTS:</a:t>
            </a:r>
            <a:endParaRPr lang="en-IN" sz="2000" b="1" u="sng" dirty="0">
              <a:latin typeface="Times New Roman" panose="02020603050405020304" pitchFamily="18" charset="0"/>
              <a:cs typeface="Times New Roman" panose="02020603050405020304" pitchFamily="18" charset="0"/>
            </a:endParaRPr>
          </a:p>
        </p:txBody>
      </p:sp>
      <p:pic>
        <p:nvPicPr>
          <p:cNvPr id="4" name="Content Placeholder 3">
            <a:extLst>
              <a:ext uri="{FF2B5EF4-FFF2-40B4-BE49-F238E27FC236}">
                <a16:creationId xmlns:a16="http://schemas.microsoft.com/office/drawing/2014/main" id="{942EC3D1-A116-A691-7809-F62EFEBE4AC1}"/>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9595546" y="934066"/>
            <a:ext cx="2286000" cy="2286000"/>
          </a:xfrm>
          <a:prstGeom prst="rect">
            <a:avLst/>
          </a:prstGeom>
          <a:noFill/>
          <a:ln>
            <a:noFill/>
          </a:ln>
        </p:spPr>
      </p:pic>
      <p:pic>
        <p:nvPicPr>
          <p:cNvPr id="5" name="Picture 4">
            <a:extLst>
              <a:ext uri="{FF2B5EF4-FFF2-40B4-BE49-F238E27FC236}">
                <a16:creationId xmlns:a16="http://schemas.microsoft.com/office/drawing/2014/main" id="{AD06A6A3-C306-DEE0-7CD8-A07BA44E3EA9}"/>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047830" y="4266794"/>
            <a:ext cx="1937693" cy="1937693"/>
          </a:xfrm>
          <a:prstGeom prst="rect">
            <a:avLst/>
          </a:prstGeom>
          <a:noFill/>
          <a:ln>
            <a:noFill/>
          </a:ln>
        </p:spPr>
      </p:pic>
      <p:sp>
        <p:nvSpPr>
          <p:cNvPr id="8" name="TextBox 7">
            <a:extLst>
              <a:ext uri="{FF2B5EF4-FFF2-40B4-BE49-F238E27FC236}">
                <a16:creationId xmlns:a16="http://schemas.microsoft.com/office/drawing/2014/main" id="{4F1A30F0-C0C8-4041-EFE3-63AC9F097931}"/>
              </a:ext>
            </a:extLst>
          </p:cNvPr>
          <p:cNvSpPr txBox="1"/>
          <p:nvPr/>
        </p:nvSpPr>
        <p:spPr>
          <a:xfrm>
            <a:off x="494068" y="840658"/>
            <a:ext cx="9121879" cy="2120068"/>
          </a:xfrm>
          <a:prstGeom prst="rect">
            <a:avLst/>
          </a:prstGeom>
          <a:noFill/>
        </p:spPr>
        <p:txBody>
          <a:bodyPr wrap="square">
            <a:spAutoFit/>
          </a:bodyPr>
          <a:lstStyle/>
          <a:p>
            <a:pPr algn="just">
              <a:lnSpc>
                <a:spcPct val="150000"/>
              </a:lnSpc>
            </a:pPr>
            <a:r>
              <a:rPr lang="en-IN" b="1" dirty="0">
                <a:latin typeface="Times New Roman" panose="02020603050405020304" pitchFamily="18" charset="0"/>
                <a:cs typeface="Times New Roman" panose="02020603050405020304" pitchFamily="18" charset="0"/>
              </a:rPr>
              <a:t>ARDUNI UNO:</a:t>
            </a:r>
          </a:p>
          <a:p>
            <a:pPr algn="just">
              <a:lnSpc>
                <a:spcPct val="150000"/>
              </a:lnSpc>
            </a:pPr>
            <a:r>
              <a:rPr lang="en-IN" dirty="0">
                <a:latin typeface="Times New Roman" panose="02020603050405020304" pitchFamily="18" charset="0"/>
                <a:cs typeface="Times New Roman" panose="02020603050405020304" pitchFamily="18" charset="0"/>
              </a:rPr>
              <a:t>An Arduino Uno acts as the central control unit, processing sensor data from the environment, making decisions about movement and cleaning actions, and communicating with a smartphone app or cloud platform via a wireless module like Bluetooth, essentially "thinking" and directing the robot's cleaning operations based on real-time information and user commands. </a:t>
            </a:r>
          </a:p>
        </p:txBody>
      </p:sp>
      <p:sp>
        <p:nvSpPr>
          <p:cNvPr id="10" name="TextBox 9">
            <a:extLst>
              <a:ext uri="{FF2B5EF4-FFF2-40B4-BE49-F238E27FC236}">
                <a16:creationId xmlns:a16="http://schemas.microsoft.com/office/drawing/2014/main" id="{60043CFB-FCCE-38BA-7FB4-FBD63CFE66EB}"/>
              </a:ext>
            </a:extLst>
          </p:cNvPr>
          <p:cNvSpPr txBox="1"/>
          <p:nvPr/>
        </p:nvSpPr>
        <p:spPr>
          <a:xfrm>
            <a:off x="393290" y="4266794"/>
            <a:ext cx="9458634" cy="2125390"/>
          </a:xfrm>
          <a:prstGeom prst="rect">
            <a:avLst/>
          </a:prstGeom>
          <a:noFill/>
        </p:spPr>
        <p:txBody>
          <a:bodyPr wrap="square">
            <a:spAutoFit/>
          </a:bodyPr>
          <a:lstStyle/>
          <a:p>
            <a:pPr algn="just">
              <a:lnSpc>
                <a:spcPct val="150000"/>
              </a:lnSpc>
            </a:pPr>
            <a:r>
              <a:rPr lang="en-IN" b="1" dirty="0">
                <a:latin typeface="Times New Roman" panose="02020603050405020304" pitchFamily="18" charset="0"/>
                <a:cs typeface="Times New Roman" panose="02020603050405020304" pitchFamily="18" charset="0"/>
              </a:rPr>
              <a:t>DC MOTOR:</a:t>
            </a:r>
          </a:p>
          <a:p>
            <a:pPr algn="just">
              <a:lnSpc>
                <a:spcPct val="150000"/>
              </a:lnSpc>
            </a:pPr>
            <a:r>
              <a:rPr lang="en-IN" dirty="0">
                <a:latin typeface="Times New Roman" panose="02020603050405020304" pitchFamily="18" charset="0"/>
                <a:cs typeface="Times New Roman" panose="02020603050405020304" pitchFamily="18" charset="0"/>
              </a:rPr>
              <a:t>The two DC motors allow the robot to move in forward, backward, left, or right directions. Depending on the signal received, the microcontroller adjusts the motor direction and speed for precise control. When the robot moves across the floor, the 5V water pump releases water for cleaning</a:t>
            </a:r>
            <a:r>
              <a:rPr lang="en-IN" dirty="0"/>
              <a:t>.</a:t>
            </a:r>
          </a:p>
        </p:txBody>
      </p:sp>
      <p:sp>
        <p:nvSpPr>
          <p:cNvPr id="12" name="TextBox 11">
            <a:extLst>
              <a:ext uri="{FF2B5EF4-FFF2-40B4-BE49-F238E27FC236}">
                <a16:creationId xmlns:a16="http://schemas.microsoft.com/office/drawing/2014/main" id="{1F4050B4-4E8E-B3AB-39D2-84DA616B42C8}"/>
              </a:ext>
            </a:extLst>
          </p:cNvPr>
          <p:cNvSpPr txBox="1"/>
          <p:nvPr/>
        </p:nvSpPr>
        <p:spPr>
          <a:xfrm>
            <a:off x="1032389" y="2960727"/>
            <a:ext cx="2546554" cy="1750992"/>
          </a:xfrm>
          <a:prstGeom prst="rect">
            <a:avLst/>
          </a:prstGeom>
          <a:noFill/>
        </p:spPr>
        <p:txBody>
          <a:bodyPr wrap="square">
            <a:spAutoFit/>
          </a:bodyPr>
          <a:lstStyle/>
          <a:p>
            <a:pPr algn="l">
              <a:lnSpc>
                <a:spcPct val="107000"/>
              </a:lnSpc>
              <a:spcAft>
                <a:spcPts val="675"/>
              </a:spcAft>
            </a:pPr>
            <a:r>
              <a:rPr lang="en-IN" sz="1600" kern="100" dirty="0">
                <a:solidFill>
                  <a:srgbClr val="000000"/>
                </a:solidFill>
                <a:effectLst/>
                <a:latin typeface="Times New Roman" panose="02020603050405020304" pitchFamily="18" charset="0"/>
                <a:ea typeface="Times New Roman" panose="02020603050405020304" pitchFamily="18" charset="0"/>
              </a:rPr>
              <a:t>14 Digital DO pins</a:t>
            </a:r>
          </a:p>
          <a:p>
            <a:pPr algn="l">
              <a:lnSpc>
                <a:spcPct val="107000"/>
              </a:lnSpc>
              <a:spcAft>
                <a:spcPts val="675"/>
              </a:spcAft>
            </a:pPr>
            <a:r>
              <a:rPr lang="en-IN" sz="1600" kern="100" dirty="0">
                <a:solidFill>
                  <a:srgbClr val="000000"/>
                </a:solidFill>
                <a:effectLst/>
                <a:latin typeface="Times New Roman" panose="02020603050405020304" pitchFamily="18" charset="0"/>
                <a:ea typeface="Times New Roman" panose="02020603050405020304" pitchFamily="18" charset="0"/>
              </a:rPr>
              <a:t>-6 Analog input pins</a:t>
            </a:r>
          </a:p>
          <a:p>
            <a:pPr algn="l">
              <a:lnSpc>
                <a:spcPct val="107000"/>
              </a:lnSpc>
              <a:spcAft>
                <a:spcPts val="675"/>
              </a:spcAft>
            </a:pPr>
            <a:r>
              <a:rPr lang="en-IN" sz="1600" kern="100" dirty="0">
                <a:solidFill>
                  <a:srgbClr val="000000"/>
                </a:solidFill>
                <a:effectLst/>
                <a:latin typeface="Times New Roman" panose="02020603050405020304" pitchFamily="18" charset="0"/>
                <a:ea typeface="Times New Roman" panose="02020603050405020304" pitchFamily="18" charset="0"/>
              </a:rPr>
              <a:t>-12 KB flash memory</a:t>
            </a:r>
          </a:p>
          <a:p>
            <a:pPr algn="l">
              <a:lnSpc>
                <a:spcPct val="107000"/>
              </a:lnSpc>
              <a:spcAft>
                <a:spcPts val="675"/>
              </a:spcAft>
            </a:pPr>
            <a:r>
              <a:rPr lang="en-IN" sz="1600" kern="100" dirty="0">
                <a:solidFill>
                  <a:srgbClr val="000000"/>
                </a:solidFill>
                <a:effectLst/>
                <a:latin typeface="Times New Roman" panose="02020603050405020304" pitchFamily="18" charset="0"/>
                <a:ea typeface="Times New Roman" panose="02020603050405020304" pitchFamily="18" charset="0"/>
              </a:rPr>
              <a:t>-16 MHz clock speed</a:t>
            </a:r>
          </a:p>
          <a:p>
            <a:pPr algn="l">
              <a:lnSpc>
                <a:spcPct val="107000"/>
              </a:lnSpc>
              <a:spcAft>
                <a:spcPts val="675"/>
              </a:spcAft>
            </a:pPr>
            <a:r>
              <a:rPr lang="en-IN" sz="1600" kern="100" dirty="0">
                <a:solidFill>
                  <a:srgbClr val="000000"/>
                </a:solidFill>
                <a:effectLst/>
                <a:latin typeface="Times New Roman" panose="02020603050405020304" pitchFamily="18" charset="0"/>
                <a:ea typeface="Times New Roman" panose="02020603050405020304" pitchFamily="18" charset="0"/>
              </a:rPr>
              <a:t> </a:t>
            </a:r>
          </a:p>
        </p:txBody>
      </p:sp>
    </p:spTree>
    <p:extLst>
      <p:ext uri="{BB962C8B-B14F-4D97-AF65-F5344CB8AC3E}">
        <p14:creationId xmlns:p14="http://schemas.microsoft.com/office/powerpoint/2010/main" val="28563547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F8E2CB-B970-EA5B-491E-D34D419E0F66}"/>
              </a:ext>
            </a:extLst>
          </p:cNvPr>
          <p:cNvSpPr>
            <a:spLocks noGrp="1"/>
          </p:cNvSpPr>
          <p:nvPr>
            <p:ph type="title"/>
          </p:nvPr>
        </p:nvSpPr>
        <p:spPr>
          <a:xfrm>
            <a:off x="513736" y="-110454"/>
            <a:ext cx="10515600" cy="1325563"/>
          </a:xfrm>
        </p:spPr>
        <p:txBody>
          <a:bodyPr>
            <a:normAutofit/>
          </a:bodyPr>
          <a:lstStyle/>
          <a:p>
            <a:r>
              <a:rPr lang="en-US" sz="2000" b="1" u="sng" dirty="0">
                <a:latin typeface="Times New Roman" panose="02020603050405020304" pitchFamily="18" charset="0"/>
                <a:cs typeface="Times New Roman" panose="02020603050405020304" pitchFamily="18" charset="0"/>
              </a:rPr>
              <a:t>LCD DISPLAY:</a:t>
            </a:r>
            <a:endParaRPr lang="en-IN" sz="2000" b="1" u="sng"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7F0478D0-DC92-C133-A7B9-D165B98AFF7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691408" y="1632301"/>
            <a:ext cx="2672224" cy="2165892"/>
          </a:xfrm>
          <a:prstGeom prst="rect">
            <a:avLst/>
          </a:prstGeom>
          <a:noFill/>
          <a:ln>
            <a:noFill/>
          </a:ln>
        </p:spPr>
      </p:pic>
      <p:sp>
        <p:nvSpPr>
          <p:cNvPr id="6" name="TextBox 5">
            <a:extLst>
              <a:ext uri="{FF2B5EF4-FFF2-40B4-BE49-F238E27FC236}">
                <a16:creationId xmlns:a16="http://schemas.microsoft.com/office/drawing/2014/main" id="{9BE63D6C-AD9F-9452-E9EA-60B6F12B6CAE}"/>
              </a:ext>
            </a:extLst>
          </p:cNvPr>
          <p:cNvSpPr txBox="1"/>
          <p:nvPr/>
        </p:nvSpPr>
        <p:spPr>
          <a:xfrm>
            <a:off x="828368" y="799066"/>
            <a:ext cx="8042787" cy="3416320"/>
          </a:xfrm>
          <a:prstGeom prst="rect">
            <a:avLst/>
          </a:prstGeom>
          <a:noFill/>
        </p:spPr>
        <p:txBody>
          <a:bodyPr wrap="square">
            <a:spAutoFit/>
          </a:bodyPr>
          <a:lstStyle/>
          <a:p>
            <a:r>
              <a:rPr lang="en-IN" dirty="0">
                <a:latin typeface="Times New Roman" panose="02020603050405020304" pitchFamily="18" charset="0"/>
                <a:cs typeface="Times New Roman" panose="02020603050405020304" pitchFamily="18" charset="0"/>
              </a:rPr>
              <a:t>1.Display Cleaning Mode: Show the current cleaning mode (e.g., "Auto", "Manual", "Spot Cleaning").</a:t>
            </a:r>
          </a:p>
          <a:p>
            <a:pPr algn="just">
              <a:lnSpc>
                <a:spcPct val="150000"/>
              </a:lnSpc>
            </a:pPr>
            <a:r>
              <a:rPr lang="en-IN" dirty="0">
                <a:latin typeface="Times New Roman" panose="02020603050405020304" pitchFamily="18" charset="0"/>
                <a:cs typeface="Times New Roman" panose="02020603050405020304" pitchFamily="18" charset="0"/>
              </a:rPr>
              <a:t>2. Display Battery Level: Show the remaining battery life (e.g., "80%", "50%", "20%").</a:t>
            </a:r>
          </a:p>
          <a:p>
            <a:r>
              <a:rPr lang="en-IN" dirty="0">
                <a:latin typeface="Times New Roman" panose="02020603050405020304" pitchFamily="18" charset="0"/>
                <a:cs typeface="Times New Roman" panose="02020603050405020304" pitchFamily="18" charset="0"/>
              </a:rPr>
              <a:t>3. Display Cleaning Progress: Show the progress of the cleaning task (e.g., "Cleaning...", " Completed").</a:t>
            </a:r>
          </a:p>
          <a:p>
            <a:r>
              <a:rPr lang="en-IN" dirty="0">
                <a:latin typeface="Times New Roman" panose="02020603050405020304" pitchFamily="18" charset="0"/>
                <a:cs typeface="Times New Roman" panose="02020603050405020304" pitchFamily="18" charset="0"/>
              </a:rPr>
              <a:t>4. Display Error Messages: Show error messages (e.g., "Obstacle detected", "Low battery").</a:t>
            </a:r>
          </a:p>
          <a:p>
            <a:r>
              <a:rPr lang="en-IN" dirty="0">
                <a:latin typeface="Times New Roman" panose="02020603050405020304" pitchFamily="18" charset="0"/>
                <a:cs typeface="Times New Roman" panose="02020603050405020304" pitchFamily="18" charset="0"/>
              </a:rPr>
              <a:t>5. Display IoT Commands: Show commands received from the IoT platform (e.g., "Start Cleaning", "Stop Cleaning").</a:t>
            </a:r>
          </a:p>
          <a:p>
            <a:r>
              <a:rPr lang="en-IN" dirty="0">
                <a:latin typeface="Times New Roman" panose="02020603050405020304" pitchFamily="18" charset="0"/>
                <a:cs typeface="Times New Roman" panose="02020603050405020304" pitchFamily="18" charset="0"/>
              </a:rPr>
              <a:t>6. Display Sensor Data: Show sensor data (e.g., temperature, humidity, dust levels).</a:t>
            </a:r>
          </a:p>
        </p:txBody>
      </p:sp>
      <p:sp>
        <p:nvSpPr>
          <p:cNvPr id="5" name="TextBox 4">
            <a:extLst>
              <a:ext uri="{FF2B5EF4-FFF2-40B4-BE49-F238E27FC236}">
                <a16:creationId xmlns:a16="http://schemas.microsoft.com/office/drawing/2014/main" id="{DA023D71-E089-70A2-600A-E94E05198E32}"/>
              </a:ext>
            </a:extLst>
          </p:cNvPr>
          <p:cNvSpPr txBox="1"/>
          <p:nvPr/>
        </p:nvSpPr>
        <p:spPr>
          <a:xfrm>
            <a:off x="828368" y="4215386"/>
            <a:ext cx="6096000" cy="2535566"/>
          </a:xfrm>
          <a:prstGeom prst="rect">
            <a:avLst/>
          </a:prstGeom>
          <a:noFill/>
        </p:spPr>
        <p:txBody>
          <a:bodyPr wrap="square">
            <a:spAutoFit/>
          </a:bodyPr>
          <a:lstStyle/>
          <a:p>
            <a:pPr>
              <a:lnSpc>
                <a:spcPct val="150000"/>
              </a:lnSpc>
            </a:pPr>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specifications:</a:t>
            </a:r>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Operating Voltage:5V</a:t>
            </a:r>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Backlight colour: Green </a:t>
            </a:r>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Horizontal characters: 16</a:t>
            </a:r>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No of  lines:2</a:t>
            </a:r>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Supports MCU speed up to 2Mhz</a:t>
            </a:r>
          </a:p>
        </p:txBody>
      </p:sp>
    </p:spTree>
    <p:extLst>
      <p:ext uri="{BB962C8B-B14F-4D97-AF65-F5344CB8AC3E}">
        <p14:creationId xmlns:p14="http://schemas.microsoft.com/office/powerpoint/2010/main" val="27664565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55146-1E76-A683-C3B7-968161740FCF}"/>
              </a:ext>
            </a:extLst>
          </p:cNvPr>
          <p:cNvSpPr>
            <a:spLocks noGrp="1"/>
          </p:cNvSpPr>
          <p:nvPr>
            <p:ph type="title"/>
          </p:nvPr>
        </p:nvSpPr>
        <p:spPr>
          <a:xfrm>
            <a:off x="438112" y="-98322"/>
            <a:ext cx="8985530" cy="2025445"/>
          </a:xfrm>
        </p:spPr>
        <p:txBody>
          <a:bodyPr>
            <a:normAutofit fontScale="90000"/>
          </a:bodyPr>
          <a:lstStyle/>
          <a:p>
            <a:pPr>
              <a:lnSpc>
                <a:spcPct val="150000"/>
              </a:lnSpc>
            </a:pPr>
            <a:r>
              <a:rPr lang="en-US" sz="2000" b="1" dirty="0">
                <a:latin typeface="Times New Roman" panose="02020603050405020304" pitchFamily="18" charset="0"/>
                <a:cs typeface="Times New Roman" panose="02020603050405020304" pitchFamily="18" charset="0"/>
              </a:rPr>
              <a:t>ULTRASONIC:</a:t>
            </a:r>
            <a:br>
              <a:rPr lang="en-US" sz="2000" b="1"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An ultrasonic sensor acts as a primary obstacle detection mechanism, allowing the robot to navigate around furniture, walls, and other objects by measuring the distance to them using sound waves, enabling it to avoid collisions and clean efficiently while maintaining autonomy.</a:t>
            </a:r>
            <a:endParaRPr lang="en-IN" sz="2000" dirty="0">
              <a:latin typeface="Times New Roman" panose="02020603050405020304" pitchFamily="18" charset="0"/>
              <a:cs typeface="Times New Roman" panose="02020603050405020304" pitchFamily="18" charset="0"/>
            </a:endParaRPr>
          </a:p>
        </p:txBody>
      </p:sp>
      <p:pic>
        <p:nvPicPr>
          <p:cNvPr id="4" name="Content Placeholder 3">
            <a:extLst>
              <a:ext uri="{FF2B5EF4-FFF2-40B4-BE49-F238E27FC236}">
                <a16:creationId xmlns:a16="http://schemas.microsoft.com/office/drawing/2014/main" id="{B4F4B7D2-395C-3721-0E35-2325D55A3655}"/>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9565633" y="635923"/>
            <a:ext cx="2292070" cy="1804179"/>
          </a:xfrm>
          <a:prstGeom prst="rect">
            <a:avLst/>
          </a:prstGeom>
          <a:noFill/>
          <a:ln>
            <a:noFill/>
          </a:ln>
        </p:spPr>
      </p:pic>
      <p:pic>
        <p:nvPicPr>
          <p:cNvPr id="5" name="Picture 4">
            <a:extLst>
              <a:ext uri="{FF2B5EF4-FFF2-40B4-BE49-F238E27FC236}">
                <a16:creationId xmlns:a16="http://schemas.microsoft.com/office/drawing/2014/main" id="{02295EF5-C513-3D47-8597-45FD4306D25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340645">
            <a:off x="10075924" y="3579849"/>
            <a:ext cx="1871712" cy="1871712"/>
          </a:xfrm>
          <a:prstGeom prst="rect">
            <a:avLst/>
          </a:prstGeom>
          <a:noFill/>
          <a:ln>
            <a:noFill/>
          </a:ln>
        </p:spPr>
      </p:pic>
      <p:sp>
        <p:nvSpPr>
          <p:cNvPr id="7" name="TextBox 6">
            <a:extLst>
              <a:ext uri="{FF2B5EF4-FFF2-40B4-BE49-F238E27FC236}">
                <a16:creationId xmlns:a16="http://schemas.microsoft.com/office/drawing/2014/main" id="{F80EEC52-299C-ECA4-813D-93ECFB00E498}"/>
              </a:ext>
            </a:extLst>
          </p:cNvPr>
          <p:cNvSpPr txBox="1"/>
          <p:nvPr/>
        </p:nvSpPr>
        <p:spPr>
          <a:xfrm>
            <a:off x="722094" y="3952654"/>
            <a:ext cx="8701548" cy="2492990"/>
          </a:xfrm>
          <a:prstGeom prst="rect">
            <a:avLst/>
          </a:prstGeom>
          <a:noFill/>
        </p:spPr>
        <p:txBody>
          <a:bodyPr wrap="square">
            <a:spAutoFit/>
          </a:bodyPr>
          <a:lstStyle/>
          <a:p>
            <a:pPr algn="just">
              <a:lnSpc>
                <a:spcPct val="150000"/>
              </a:lnSpc>
            </a:pPr>
            <a:r>
              <a:rPr lang="en-IN" sz="2000" b="1" kern="100" dirty="0">
                <a:solidFill>
                  <a:srgbClr val="000000"/>
                </a:solidFill>
                <a:latin typeface="Times New Roman" panose="02020603050405020304" pitchFamily="18" charset="0"/>
                <a:ea typeface="Times New Roman" panose="02020603050405020304" pitchFamily="18" charset="0"/>
              </a:rPr>
              <a:t>L293D:</a:t>
            </a:r>
          </a:p>
          <a:p>
            <a:pPr algn="just">
              <a:lnSpc>
                <a:spcPct val="150000"/>
              </a:lnSpc>
            </a:pPr>
            <a:r>
              <a:rPr lang="en-IN" kern="100" dirty="0">
                <a:solidFill>
                  <a:srgbClr val="000000"/>
                </a:solidFill>
                <a:effectLst/>
                <a:latin typeface="Times New Roman" panose="02020603050405020304" pitchFamily="18" charset="0"/>
                <a:ea typeface="Times New Roman" panose="02020603050405020304" pitchFamily="18" charset="0"/>
              </a:rPr>
              <a:t>The L293D is a 16 pin IC, with eight pins, on each side, dedicated to the controlling of a motor. There are 2 INPUT pins, 2 OUTPUT pins and 1 ENABLE pin for each motor 12931) consist of two H-bridge.  H- bridge is the simplest circuit for controlling a low current rated motor.</a:t>
            </a:r>
          </a:p>
          <a:p>
            <a:pPr algn="just"/>
            <a:r>
              <a:rPr lang="en-IN" sz="1800" kern="100" dirty="0">
                <a:solidFill>
                  <a:srgbClr val="000000"/>
                </a:solidFill>
                <a:effectLst/>
                <a:latin typeface="Times New Roman" panose="02020603050405020304" pitchFamily="18" charset="0"/>
                <a:ea typeface="Times New Roman" panose="02020603050405020304" pitchFamily="18" charset="0"/>
              </a:rPr>
              <a:t>  </a:t>
            </a:r>
          </a:p>
        </p:txBody>
      </p:sp>
      <p:sp>
        <p:nvSpPr>
          <p:cNvPr id="6" name="TextBox 5">
            <a:extLst>
              <a:ext uri="{FF2B5EF4-FFF2-40B4-BE49-F238E27FC236}">
                <a16:creationId xmlns:a16="http://schemas.microsoft.com/office/drawing/2014/main" id="{DC075817-206F-FEFC-377B-74358DD11C3E}"/>
              </a:ext>
            </a:extLst>
          </p:cNvPr>
          <p:cNvSpPr txBox="1"/>
          <p:nvPr/>
        </p:nvSpPr>
        <p:spPr>
          <a:xfrm>
            <a:off x="561787" y="1694935"/>
            <a:ext cx="6096000" cy="2120068"/>
          </a:xfrm>
          <a:prstGeom prst="rect">
            <a:avLst/>
          </a:prstGeom>
          <a:noFill/>
        </p:spPr>
        <p:txBody>
          <a:bodyPr wrap="square">
            <a:spAutoFit/>
          </a:bodyPr>
          <a:lstStyle/>
          <a:p>
            <a:pPr>
              <a:lnSpc>
                <a:spcPct val="150000"/>
              </a:lnSpc>
            </a:pPr>
            <a:r>
              <a:rPr lang="en-IN" b="1" dirty="0">
                <a:latin typeface="Times New Roman" panose="02020603050405020304" pitchFamily="18" charset="0"/>
                <a:cs typeface="Times New Roman" panose="02020603050405020304" pitchFamily="18" charset="0"/>
              </a:rPr>
              <a:t>Specifications:</a:t>
            </a:r>
          </a:p>
          <a:p>
            <a:pPr>
              <a:lnSpc>
                <a:spcPct val="150000"/>
              </a:lnSpc>
            </a:pPr>
            <a:r>
              <a:rPr lang="en-IN" dirty="0">
                <a:latin typeface="Times New Roman" panose="02020603050405020304" pitchFamily="18" charset="0"/>
                <a:cs typeface="Times New Roman" panose="02020603050405020304" pitchFamily="18" charset="0"/>
              </a:rPr>
              <a:t>Power Supply: DC 5V</a:t>
            </a:r>
          </a:p>
          <a:p>
            <a:pPr>
              <a:lnSpc>
                <a:spcPct val="150000"/>
              </a:lnSpc>
            </a:pPr>
            <a:r>
              <a:rPr lang="en-IN" dirty="0">
                <a:latin typeface="Times New Roman" panose="02020603050405020304" pitchFamily="18" charset="0"/>
                <a:cs typeface="Times New Roman" panose="02020603050405020304" pitchFamily="18" charset="0"/>
              </a:rPr>
              <a:t>Working Current: 15mA</a:t>
            </a:r>
          </a:p>
          <a:p>
            <a:pPr>
              <a:lnSpc>
                <a:spcPct val="150000"/>
              </a:lnSpc>
            </a:pPr>
            <a:r>
              <a:rPr lang="en-IN" dirty="0">
                <a:latin typeface="Times New Roman" panose="02020603050405020304" pitchFamily="18" charset="0"/>
                <a:cs typeface="Times New Roman" panose="02020603050405020304" pitchFamily="18" charset="0"/>
              </a:rPr>
              <a:t>Working Frequency: 40Hz</a:t>
            </a:r>
          </a:p>
          <a:p>
            <a:pPr>
              <a:lnSpc>
                <a:spcPct val="150000"/>
              </a:lnSpc>
            </a:pPr>
            <a:r>
              <a:rPr lang="en-IN" dirty="0">
                <a:latin typeface="Times New Roman" panose="02020603050405020304" pitchFamily="18" charset="0"/>
                <a:cs typeface="Times New Roman" panose="02020603050405020304" pitchFamily="18" charset="0"/>
              </a:rPr>
              <a:t>Ranging Distance : 2cm – 400cm </a:t>
            </a:r>
          </a:p>
        </p:txBody>
      </p:sp>
    </p:spTree>
    <p:extLst>
      <p:ext uri="{BB962C8B-B14F-4D97-AF65-F5344CB8AC3E}">
        <p14:creationId xmlns:p14="http://schemas.microsoft.com/office/powerpoint/2010/main" val="31873066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98CEFA1-B4CB-43C2-6E3A-2C5BE76E162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380730" y="1766780"/>
            <a:ext cx="3811270" cy="2541905"/>
          </a:xfrm>
          <a:prstGeom prst="rect">
            <a:avLst/>
          </a:prstGeom>
          <a:noFill/>
          <a:ln>
            <a:noFill/>
          </a:ln>
        </p:spPr>
      </p:pic>
      <p:sp>
        <p:nvSpPr>
          <p:cNvPr id="4" name="Content Placeholder 3">
            <a:extLst>
              <a:ext uri="{FF2B5EF4-FFF2-40B4-BE49-F238E27FC236}">
                <a16:creationId xmlns:a16="http://schemas.microsoft.com/office/drawing/2014/main" id="{B467FB34-41CB-4B92-94DC-6B171343C1A9}"/>
              </a:ext>
            </a:extLst>
          </p:cNvPr>
          <p:cNvSpPr>
            <a:spLocks noGrp="1"/>
          </p:cNvSpPr>
          <p:nvPr>
            <p:ph idx="1"/>
          </p:nvPr>
        </p:nvSpPr>
        <p:spPr>
          <a:xfrm>
            <a:off x="582561" y="380283"/>
            <a:ext cx="10515600" cy="4351338"/>
          </a:xfrm>
        </p:spPr>
        <p:txBody>
          <a:bodyPr>
            <a:normAutofit/>
          </a:bodyPr>
          <a:lstStyle/>
          <a:p>
            <a:pPr marL="0" indent="0">
              <a:buNone/>
            </a:pPr>
            <a:r>
              <a:rPr lang="en-US" sz="2000" b="1" u="sng" dirty="0">
                <a:latin typeface="Times New Roman" panose="02020603050405020304" pitchFamily="18" charset="0"/>
                <a:cs typeface="Times New Roman" panose="02020603050405020304" pitchFamily="18" charset="0"/>
              </a:rPr>
              <a:t>NODE MCU:</a:t>
            </a:r>
            <a:endParaRPr lang="en-IN" sz="2000" b="1" u="sng"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3CA467F5-2A56-8A70-BDC0-5AD125593060}"/>
              </a:ext>
            </a:extLst>
          </p:cNvPr>
          <p:cNvSpPr txBox="1"/>
          <p:nvPr/>
        </p:nvSpPr>
        <p:spPr>
          <a:xfrm>
            <a:off x="582561" y="743843"/>
            <a:ext cx="8105427" cy="2535566"/>
          </a:xfrm>
          <a:prstGeom prst="rect">
            <a:avLst/>
          </a:prstGeom>
          <a:noFill/>
        </p:spPr>
        <p:txBody>
          <a:bodyPr wrap="square">
            <a:spAutoFit/>
          </a:bodyPr>
          <a:lstStyle/>
          <a:p>
            <a:pPr algn="just">
              <a:lnSpc>
                <a:spcPct val="150000"/>
              </a:lnSpc>
            </a:pPr>
            <a:r>
              <a:rPr lang="en-IN" dirty="0">
                <a:latin typeface="Times New Roman" panose="02020603050405020304" pitchFamily="18" charset="0"/>
                <a:cs typeface="Times New Roman" panose="02020603050405020304" pitchFamily="18" charset="0"/>
              </a:rPr>
              <a:t>In a smart floor cleaning robot, a Node MCU acts as the "brain" - receiving information from sensors like obstacle detectors, processing that data, and sending commands to the robot's motors to navigate and clean the floor, all while allowing for wireless control through a smartphone app via its integrate </a:t>
            </a:r>
            <a:r>
              <a:rPr lang="en-IN" dirty="0" err="1">
                <a:latin typeface="Times New Roman" panose="02020603050405020304" pitchFamily="18" charset="0"/>
                <a:cs typeface="Times New Roman" panose="02020603050405020304" pitchFamily="18" charset="0"/>
              </a:rPr>
              <a:t>WiFi</a:t>
            </a:r>
            <a:r>
              <a:rPr lang="en-IN" dirty="0">
                <a:latin typeface="Times New Roman" panose="02020603050405020304" pitchFamily="18" charset="0"/>
                <a:cs typeface="Times New Roman" panose="02020603050405020304" pitchFamily="18" charset="0"/>
              </a:rPr>
              <a:t> capabilities: essentially, it manages the entire cleaning process, making decisions based on real-time sensor data to avoid obstacles and clean effectively.</a:t>
            </a:r>
          </a:p>
        </p:txBody>
      </p:sp>
      <p:sp>
        <p:nvSpPr>
          <p:cNvPr id="10" name="TextBox 9">
            <a:extLst>
              <a:ext uri="{FF2B5EF4-FFF2-40B4-BE49-F238E27FC236}">
                <a16:creationId xmlns:a16="http://schemas.microsoft.com/office/drawing/2014/main" id="{357610B5-B206-1537-E379-15A2AEB4991F}"/>
              </a:ext>
            </a:extLst>
          </p:cNvPr>
          <p:cNvSpPr txBox="1"/>
          <p:nvPr/>
        </p:nvSpPr>
        <p:spPr>
          <a:xfrm>
            <a:off x="763271" y="3279409"/>
            <a:ext cx="6096000" cy="2120068"/>
          </a:xfrm>
          <a:prstGeom prst="rect">
            <a:avLst/>
          </a:prstGeom>
          <a:noFill/>
        </p:spPr>
        <p:txBody>
          <a:bodyPr wrap="square">
            <a:spAutoFit/>
          </a:bodyPr>
          <a:lstStyle/>
          <a:p>
            <a:pPr>
              <a:lnSpc>
                <a:spcPct val="150000"/>
              </a:lnSpc>
            </a:pPr>
            <a:r>
              <a:rPr lang="en-IN" b="1" dirty="0">
                <a:latin typeface="Times New Roman" panose="02020603050405020304" pitchFamily="18" charset="0"/>
                <a:cs typeface="Times New Roman" panose="02020603050405020304" pitchFamily="18" charset="0"/>
              </a:rPr>
              <a:t>Specifications:</a:t>
            </a:r>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Power supply:5v&amp;3.3v</a:t>
            </a:r>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Range:802.11b/g/n</a:t>
            </a:r>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Digital I/O Pins: 16</a:t>
            </a:r>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Analog in pins: 1</a:t>
            </a:r>
          </a:p>
        </p:txBody>
      </p:sp>
    </p:spTree>
    <p:extLst>
      <p:ext uri="{BB962C8B-B14F-4D97-AF65-F5344CB8AC3E}">
        <p14:creationId xmlns:p14="http://schemas.microsoft.com/office/powerpoint/2010/main" val="11255416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5EB1EA-48B3-3CDC-9E35-F51D9C31D7EF}"/>
              </a:ext>
            </a:extLst>
          </p:cNvPr>
          <p:cNvSpPr>
            <a:spLocks noGrp="1"/>
          </p:cNvSpPr>
          <p:nvPr>
            <p:ph type="title"/>
          </p:nvPr>
        </p:nvSpPr>
        <p:spPr>
          <a:xfrm>
            <a:off x="334296" y="-772680"/>
            <a:ext cx="6636774" cy="2369574"/>
          </a:xfrm>
        </p:spPr>
        <p:txBody>
          <a:bodyPr>
            <a:normAutofit/>
          </a:bodyPr>
          <a:lstStyle/>
          <a:p>
            <a:r>
              <a:rPr lang="en-US" sz="2000" b="1" u="sng" dirty="0">
                <a:latin typeface="Times New Roman" panose="02020603050405020304" pitchFamily="18" charset="0"/>
                <a:cs typeface="Times New Roman" panose="02020603050405020304" pitchFamily="18" charset="0"/>
              </a:rPr>
              <a:t>BO MOTOR:</a:t>
            </a:r>
            <a:endParaRPr lang="en-IN" sz="2000" b="1" u="sng" dirty="0">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2CF633F8-9C58-76FE-D261-3C0265698AB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523241" y="657311"/>
            <a:ext cx="2103823" cy="2148904"/>
          </a:xfrm>
        </p:spPr>
      </p:pic>
      <p:pic>
        <p:nvPicPr>
          <p:cNvPr id="7" name="Picture 6">
            <a:extLst>
              <a:ext uri="{FF2B5EF4-FFF2-40B4-BE49-F238E27FC236}">
                <a16:creationId xmlns:a16="http://schemas.microsoft.com/office/drawing/2014/main" id="{9E7CC6D0-AC0F-62E2-DBC4-167EE9BFC0F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92929" y="4070556"/>
            <a:ext cx="2399071" cy="2399071"/>
          </a:xfrm>
          <a:prstGeom prst="rect">
            <a:avLst/>
          </a:prstGeom>
        </p:spPr>
      </p:pic>
      <p:sp>
        <p:nvSpPr>
          <p:cNvPr id="9" name="TextBox 8">
            <a:extLst>
              <a:ext uri="{FF2B5EF4-FFF2-40B4-BE49-F238E27FC236}">
                <a16:creationId xmlns:a16="http://schemas.microsoft.com/office/drawing/2014/main" id="{CAFB259B-47E6-4BE0-1BB3-C164C5727065}"/>
              </a:ext>
            </a:extLst>
          </p:cNvPr>
          <p:cNvSpPr txBox="1"/>
          <p:nvPr/>
        </p:nvSpPr>
        <p:spPr>
          <a:xfrm>
            <a:off x="564936" y="2699254"/>
            <a:ext cx="11509078" cy="3828227"/>
          </a:xfrm>
          <a:prstGeom prst="rect">
            <a:avLst/>
          </a:prstGeom>
          <a:noFill/>
        </p:spPr>
        <p:txBody>
          <a:bodyPr wrap="square">
            <a:spAutoFit/>
          </a:bodyPr>
          <a:lstStyle/>
          <a:p>
            <a:pPr>
              <a:lnSpc>
                <a:spcPct val="150000"/>
              </a:lnSpc>
            </a:pPr>
            <a:r>
              <a:rPr lang="en-IN" sz="2000" b="1" u="sng" dirty="0">
                <a:latin typeface="Times New Roman" panose="02020603050405020304" pitchFamily="18" charset="0"/>
                <a:cs typeface="Times New Roman" panose="02020603050405020304" pitchFamily="18" charset="0"/>
              </a:rPr>
              <a:t>RELAY:</a:t>
            </a:r>
          </a:p>
          <a:p>
            <a:pPr>
              <a:lnSpc>
                <a:spcPct val="150000"/>
              </a:lnSpc>
            </a:pPr>
            <a:r>
              <a:rPr lang="en-IN" dirty="0">
                <a:latin typeface="Times New Roman" panose="02020603050405020304" pitchFamily="18" charset="0"/>
                <a:cs typeface="Times New Roman" panose="02020603050405020304" pitchFamily="18" charset="0"/>
              </a:rPr>
              <a:t>Relay is a electronic component that uses electromagnet to act as a mechanical switch The purpose of a relay in to switch on and off a high powered circuit . Relay provides the complete isolation between the low voltage circuit on Node MCU side and the high voltage side controlling the load</a:t>
            </a:r>
          </a:p>
          <a:p>
            <a:pPr>
              <a:lnSpc>
                <a:spcPct val="150000"/>
              </a:lnSpc>
            </a:pPr>
            <a:r>
              <a:rPr lang="en-IN" b="1" dirty="0">
                <a:latin typeface="Times New Roman" panose="02020603050405020304" pitchFamily="18" charset="0"/>
                <a:cs typeface="Times New Roman" panose="02020603050405020304" pitchFamily="18" charset="0"/>
              </a:rPr>
              <a:t>specifications</a:t>
            </a:r>
            <a:r>
              <a:rPr lang="en-IN" dirty="0">
                <a:latin typeface="Times New Roman" panose="02020603050405020304" pitchFamily="18" charset="0"/>
                <a:cs typeface="Times New Roman" panose="02020603050405020304" pitchFamily="18" charset="0"/>
              </a:rPr>
              <a:t>:</a:t>
            </a:r>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Normal voltage 5V DC</a:t>
            </a:r>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Voltage supply ranges from 3.75v-6v</a:t>
            </a:r>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It includes 5pins</a:t>
            </a:r>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The maximum current is 10A</a:t>
            </a:r>
          </a:p>
        </p:txBody>
      </p:sp>
      <p:sp>
        <p:nvSpPr>
          <p:cNvPr id="4" name="TextBox 3">
            <a:extLst>
              <a:ext uri="{FF2B5EF4-FFF2-40B4-BE49-F238E27FC236}">
                <a16:creationId xmlns:a16="http://schemas.microsoft.com/office/drawing/2014/main" id="{72D99252-528B-DF35-56F8-6FC7C3D146FF}"/>
              </a:ext>
            </a:extLst>
          </p:cNvPr>
          <p:cNvSpPr txBox="1"/>
          <p:nvPr/>
        </p:nvSpPr>
        <p:spPr>
          <a:xfrm>
            <a:off x="564936" y="614906"/>
            <a:ext cx="9070676" cy="1704569"/>
          </a:xfrm>
          <a:prstGeom prst="rect">
            <a:avLst/>
          </a:prstGeom>
          <a:noFill/>
        </p:spPr>
        <p:txBody>
          <a:bodyPr wrap="square">
            <a:spAutoFit/>
          </a:bodyPr>
          <a:lstStyle/>
          <a:p>
            <a:pPr algn="just">
              <a:lnSpc>
                <a:spcPct val="150000"/>
              </a:lnSpc>
            </a:pPr>
            <a:r>
              <a:rPr lang="en-IN" dirty="0">
                <a:latin typeface="Times New Roman" panose="02020603050405020304" pitchFamily="18" charset="0"/>
                <a:cs typeface="Times New Roman" panose="02020603050405020304" pitchFamily="18" charset="0"/>
              </a:rPr>
              <a:t>A "BO motor" is a especially within the context of IoT, refers to a "Brushless DC (DC) motor" which is commonly used to power the wheels of the robot, enabling it to move around and clean the floor effectively due to its compact size, high efficiency, and low noise operation; making it a popular choice for such applications.</a:t>
            </a:r>
          </a:p>
        </p:txBody>
      </p:sp>
    </p:spTree>
    <p:extLst>
      <p:ext uri="{BB962C8B-B14F-4D97-AF65-F5344CB8AC3E}">
        <p14:creationId xmlns:p14="http://schemas.microsoft.com/office/powerpoint/2010/main" val="25469086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E23217-810B-7DD7-EB82-D7CF21A21C32}"/>
              </a:ext>
            </a:extLst>
          </p:cNvPr>
          <p:cNvSpPr>
            <a:spLocks noGrp="1"/>
          </p:cNvSpPr>
          <p:nvPr>
            <p:ph type="title"/>
          </p:nvPr>
        </p:nvSpPr>
        <p:spPr>
          <a:xfrm>
            <a:off x="641555" y="18255"/>
            <a:ext cx="10515600" cy="1325563"/>
          </a:xfrm>
        </p:spPr>
        <p:txBody>
          <a:bodyPr>
            <a:normAutofit/>
          </a:bodyPr>
          <a:lstStyle/>
          <a:p>
            <a:r>
              <a:rPr lang="en-US" sz="2000" b="1" u="sng" dirty="0">
                <a:latin typeface="Times New Roman" panose="02020603050405020304" pitchFamily="18" charset="0"/>
                <a:cs typeface="Times New Roman" panose="02020603050405020304" pitchFamily="18" charset="0"/>
              </a:rPr>
              <a:t>Working principle</a:t>
            </a:r>
            <a:endParaRPr lang="en-IN" sz="2000" b="1" u="sng"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5393999-F702-4961-3CD0-F83E824A08DC}"/>
              </a:ext>
            </a:extLst>
          </p:cNvPr>
          <p:cNvSpPr>
            <a:spLocks noGrp="1"/>
          </p:cNvSpPr>
          <p:nvPr>
            <p:ph idx="1"/>
          </p:nvPr>
        </p:nvSpPr>
        <p:spPr>
          <a:xfrm>
            <a:off x="838200" y="1127534"/>
            <a:ext cx="10515600" cy="4351338"/>
          </a:xfrm>
        </p:spPr>
        <p:txBody>
          <a:bodyPr>
            <a:normAutofit/>
          </a:bodyPr>
          <a:lstStyle/>
          <a:p>
            <a:pPr algn="just">
              <a:lnSpc>
                <a:spcPct val="150000"/>
              </a:lnSpc>
            </a:pPr>
            <a:r>
              <a:rPr lang="en-US" sz="1800" dirty="0">
                <a:latin typeface="Times New Roman" panose="02020603050405020304" pitchFamily="18" charset="0"/>
                <a:cs typeface="Times New Roman" panose="02020603050405020304" pitchFamily="18" charset="0"/>
              </a:rPr>
              <a:t>Sensors and Navigation</a:t>
            </a:r>
          </a:p>
          <a:p>
            <a:pPr algn="just">
              <a:lnSpc>
                <a:spcPct val="150000"/>
              </a:lnSpc>
            </a:pPr>
            <a:r>
              <a:rPr lang="en-US" sz="1800" dirty="0">
                <a:latin typeface="Times New Roman" panose="02020603050405020304" pitchFamily="18" charset="0"/>
                <a:cs typeface="Times New Roman" panose="02020603050405020304" pitchFamily="18" charset="0"/>
              </a:rPr>
              <a:t>Cleaning Mechanism</a:t>
            </a:r>
          </a:p>
          <a:p>
            <a:pPr algn="just">
              <a:lnSpc>
                <a:spcPct val="150000"/>
              </a:lnSpc>
            </a:pPr>
            <a:r>
              <a:rPr lang="en-US" sz="1800" dirty="0">
                <a:latin typeface="Times New Roman" panose="02020603050405020304" pitchFamily="18" charset="0"/>
                <a:cs typeface="Times New Roman" panose="02020603050405020304" pitchFamily="18" charset="0"/>
              </a:rPr>
              <a:t>IOT Connectivity</a:t>
            </a:r>
          </a:p>
          <a:p>
            <a:pPr algn="just">
              <a:lnSpc>
                <a:spcPct val="150000"/>
              </a:lnSpc>
            </a:pPr>
            <a:r>
              <a:rPr lang="en-US" sz="1800" dirty="0">
                <a:latin typeface="Times New Roman" panose="02020603050405020304" pitchFamily="18" charset="0"/>
                <a:cs typeface="Times New Roman" panose="02020603050405020304" pitchFamily="18" charset="0"/>
              </a:rPr>
              <a:t>Artificial Intelligence and Mapping</a:t>
            </a:r>
          </a:p>
          <a:p>
            <a:pPr algn="just">
              <a:lnSpc>
                <a:spcPct val="150000"/>
              </a:lnSpc>
            </a:pPr>
            <a:r>
              <a:rPr lang="en-US" sz="1800" dirty="0">
                <a:latin typeface="Times New Roman" panose="02020603050405020304" pitchFamily="18" charset="0"/>
                <a:cs typeface="Times New Roman" panose="02020603050405020304" pitchFamily="18" charset="0"/>
              </a:rPr>
              <a:t>Battery and Charging</a:t>
            </a:r>
          </a:p>
          <a:p>
            <a:pPr algn="just">
              <a:lnSpc>
                <a:spcPct val="150000"/>
              </a:lnSpc>
            </a:pPr>
            <a:r>
              <a:rPr lang="en-US" sz="1800" dirty="0">
                <a:latin typeface="Times New Roman" panose="02020603050405020304" pitchFamily="18" charset="0"/>
                <a:cs typeface="Times New Roman" panose="02020603050405020304" pitchFamily="18" charset="0"/>
              </a:rPr>
              <a:t>Data Collection and Monitoring</a:t>
            </a:r>
          </a:p>
          <a:p>
            <a:pPr algn="just">
              <a:lnSpc>
                <a:spcPct val="150000"/>
              </a:lnSpc>
            </a:pPr>
            <a:r>
              <a:rPr lang="en-US" sz="1800" dirty="0">
                <a:latin typeface="Times New Roman" panose="02020603050405020304" pitchFamily="18" charset="0"/>
                <a:cs typeface="Times New Roman" panose="02020603050405020304" pitchFamily="18" charset="0"/>
              </a:rPr>
              <a:t>Automatic Scheduling</a:t>
            </a:r>
          </a:p>
          <a:p>
            <a:pPr algn="just">
              <a:lnSpc>
                <a:spcPct val="150000"/>
              </a:lnSpc>
            </a:pP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576086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1DD9F2-626E-2CA1-B1BD-8D47A18FA10B}"/>
              </a:ext>
            </a:extLst>
          </p:cNvPr>
          <p:cNvSpPr>
            <a:spLocks noGrp="1"/>
          </p:cNvSpPr>
          <p:nvPr>
            <p:ph type="title"/>
          </p:nvPr>
        </p:nvSpPr>
        <p:spPr>
          <a:xfrm>
            <a:off x="838200" y="382049"/>
            <a:ext cx="10515600" cy="1325563"/>
          </a:xfrm>
        </p:spPr>
        <p:txBody>
          <a:bodyPr>
            <a:normAutofit/>
          </a:bodyPr>
          <a:lstStyle/>
          <a:p>
            <a:r>
              <a:rPr lang="en-US" sz="2000" b="1" u="sng" dirty="0">
                <a:latin typeface="Times New Roman" panose="02020603050405020304" pitchFamily="18" charset="0"/>
                <a:cs typeface="Times New Roman" panose="02020603050405020304" pitchFamily="18" charset="0"/>
              </a:rPr>
              <a:t>APPLICATIONS:</a:t>
            </a:r>
            <a:endParaRPr lang="en-IN" sz="2000" b="1" u="sng"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F619F09-2CE8-B015-4B5C-6169DC112E09}"/>
              </a:ext>
            </a:extLst>
          </p:cNvPr>
          <p:cNvSpPr>
            <a:spLocks noGrp="1"/>
          </p:cNvSpPr>
          <p:nvPr>
            <p:ph idx="1"/>
          </p:nvPr>
        </p:nvSpPr>
        <p:spPr>
          <a:xfrm>
            <a:off x="995516" y="1461831"/>
            <a:ext cx="10515600" cy="4351338"/>
          </a:xfrm>
        </p:spPr>
        <p:txBody>
          <a:bodyPr>
            <a:normAutofit/>
          </a:bodyPr>
          <a:lstStyle/>
          <a:p>
            <a:r>
              <a:rPr lang="en-US" sz="1800" dirty="0">
                <a:latin typeface="Times New Roman" panose="02020603050405020304" pitchFamily="18" charset="0"/>
                <a:cs typeface="Times New Roman" panose="02020603050405020304" pitchFamily="18" charset="0"/>
              </a:rPr>
              <a:t>Home cleaning</a:t>
            </a:r>
          </a:p>
          <a:p>
            <a:r>
              <a:rPr lang="en-US" sz="1800" dirty="0">
                <a:latin typeface="Times New Roman" panose="02020603050405020304" pitchFamily="18" charset="0"/>
                <a:cs typeface="Times New Roman" panose="02020603050405020304" pitchFamily="18" charset="0"/>
              </a:rPr>
              <a:t>Pet owners</a:t>
            </a:r>
          </a:p>
          <a:p>
            <a:r>
              <a:rPr lang="en-US" sz="1800" dirty="0">
                <a:latin typeface="Times New Roman" panose="02020603050405020304" pitchFamily="18" charset="0"/>
                <a:cs typeface="Times New Roman" panose="02020603050405020304" pitchFamily="18" charset="0"/>
              </a:rPr>
              <a:t>Allergy sufferers</a:t>
            </a:r>
          </a:p>
          <a:p>
            <a:r>
              <a:rPr lang="en-US" sz="1800" dirty="0">
                <a:latin typeface="Times New Roman" panose="02020603050405020304" pitchFamily="18" charset="0"/>
                <a:cs typeface="Times New Roman" panose="02020603050405020304" pitchFamily="18" charset="0"/>
              </a:rPr>
              <a:t>Factory floors</a:t>
            </a:r>
          </a:p>
          <a:p>
            <a:r>
              <a:rPr lang="en-US" sz="1800" dirty="0">
                <a:latin typeface="Times New Roman" panose="02020603050405020304" pitchFamily="18" charset="0"/>
                <a:cs typeface="Times New Roman" panose="02020603050405020304" pitchFamily="18" charset="0"/>
              </a:rPr>
              <a:t>Transportation</a:t>
            </a:r>
          </a:p>
          <a:p>
            <a:r>
              <a:rPr lang="en-US" sz="1800" dirty="0">
                <a:latin typeface="Times New Roman" panose="02020603050405020304" pitchFamily="18" charset="0"/>
                <a:cs typeface="Times New Roman" panose="02020603050405020304" pitchFamily="18" charset="0"/>
              </a:rPr>
              <a:t>Office cleaning</a:t>
            </a:r>
          </a:p>
          <a:p>
            <a:r>
              <a:rPr lang="en-US" sz="1800" dirty="0">
                <a:latin typeface="Times New Roman" panose="02020603050405020304" pitchFamily="18" charset="0"/>
                <a:cs typeface="Times New Roman" panose="02020603050405020304" pitchFamily="18" charset="0"/>
              </a:rPr>
              <a:t>Public cleaning</a:t>
            </a:r>
          </a:p>
          <a:p>
            <a:r>
              <a:rPr lang="en-US" sz="1800" dirty="0">
                <a:latin typeface="Times New Roman" panose="02020603050405020304" pitchFamily="18" charset="0"/>
                <a:cs typeface="Times New Roman" panose="02020603050405020304" pitchFamily="18" charset="0"/>
              </a:rPr>
              <a:t>Hotel and Hospitality cleaning</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228237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7F778A-1326-93D8-A6D1-BBC18CB1DC74}"/>
              </a:ext>
            </a:extLst>
          </p:cNvPr>
          <p:cNvSpPr>
            <a:spLocks noGrp="1"/>
          </p:cNvSpPr>
          <p:nvPr>
            <p:ph type="title"/>
          </p:nvPr>
        </p:nvSpPr>
        <p:spPr/>
        <p:txBody>
          <a:bodyPr>
            <a:normAutofit/>
          </a:bodyPr>
          <a:lstStyle/>
          <a:p>
            <a:r>
              <a:rPr lang="en-US" sz="2000" b="1" u="sng" dirty="0">
                <a:latin typeface="Times New Roman" panose="02020603050405020304" pitchFamily="18" charset="0"/>
                <a:cs typeface="Times New Roman" panose="02020603050405020304" pitchFamily="18" charset="0"/>
              </a:rPr>
              <a:t>ADVANTAGES:</a:t>
            </a:r>
            <a:endParaRPr lang="en-IN" sz="2000" b="1" u="sng"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76FF37F-E4B1-BCCF-516C-969E7CC1CA72}"/>
              </a:ext>
            </a:extLst>
          </p:cNvPr>
          <p:cNvSpPr>
            <a:spLocks noGrp="1"/>
          </p:cNvSpPr>
          <p:nvPr>
            <p:ph idx="1"/>
          </p:nvPr>
        </p:nvSpPr>
        <p:spPr>
          <a:xfrm>
            <a:off x="1084007" y="1373341"/>
            <a:ext cx="10515600" cy="4351338"/>
          </a:xfrm>
        </p:spPr>
        <p:txBody>
          <a:bodyPr>
            <a:normAutofit/>
          </a:bodyPr>
          <a:lstStyle/>
          <a:p>
            <a:r>
              <a:rPr lang="en-US" sz="1800" dirty="0">
                <a:latin typeface="Times New Roman" panose="02020603050405020304" pitchFamily="18" charset="0"/>
                <a:cs typeface="Times New Roman" panose="02020603050405020304" pitchFamily="18" charset="0"/>
              </a:rPr>
              <a:t>Time saving feature</a:t>
            </a:r>
          </a:p>
          <a:p>
            <a:r>
              <a:rPr lang="en-US" sz="1800" dirty="0">
                <a:latin typeface="Times New Roman" panose="02020603050405020304" pitchFamily="18" charset="0"/>
                <a:cs typeface="Times New Roman" panose="02020603050405020304" pitchFamily="18" charset="0"/>
              </a:rPr>
              <a:t>Automated operation</a:t>
            </a:r>
          </a:p>
          <a:p>
            <a:r>
              <a:rPr lang="en-US" sz="1800" dirty="0">
                <a:latin typeface="Times New Roman" panose="02020603050405020304" pitchFamily="18" charset="0"/>
                <a:cs typeface="Times New Roman" panose="02020603050405020304" pitchFamily="18" charset="0"/>
              </a:rPr>
              <a:t>Reduced human effort</a:t>
            </a:r>
          </a:p>
          <a:p>
            <a:r>
              <a:rPr lang="en-US" sz="1800" dirty="0">
                <a:latin typeface="Times New Roman" panose="02020603050405020304" pitchFamily="18" charset="0"/>
                <a:cs typeface="Times New Roman" panose="02020603050405020304" pitchFamily="18" charset="0"/>
              </a:rPr>
              <a:t>Remote monitoring and control</a:t>
            </a:r>
          </a:p>
          <a:p>
            <a:r>
              <a:rPr lang="en-US" sz="1800" dirty="0">
                <a:latin typeface="Times New Roman" panose="02020603050405020304" pitchFamily="18" charset="0"/>
                <a:cs typeface="Times New Roman" panose="02020603050405020304" pitchFamily="18" charset="0"/>
              </a:rPr>
              <a:t>Increased cleaning efficiency</a:t>
            </a:r>
          </a:p>
          <a:p>
            <a:r>
              <a:rPr lang="en-US" sz="1800" dirty="0">
                <a:latin typeface="Times New Roman" panose="02020603050405020304" pitchFamily="18" charset="0"/>
                <a:cs typeface="Times New Roman" panose="02020603050405020304" pitchFamily="18" charset="0"/>
              </a:rPr>
              <a:t>Improved Accuracy</a:t>
            </a:r>
          </a:p>
          <a:p>
            <a:r>
              <a:rPr lang="en-US" sz="1800" dirty="0">
                <a:latin typeface="Times New Roman" panose="02020603050405020304" pitchFamily="18" charset="0"/>
                <a:cs typeface="Times New Roman" panose="02020603050405020304" pitchFamily="18" charset="0"/>
              </a:rPr>
              <a:t>Increased productivity</a:t>
            </a:r>
          </a:p>
          <a:p>
            <a:r>
              <a:rPr lang="en-US" sz="1800" dirty="0">
                <a:latin typeface="Times New Roman" panose="02020603050405020304" pitchFamily="18" charset="0"/>
                <a:cs typeface="Times New Roman" panose="02020603050405020304" pitchFamily="18" charset="0"/>
              </a:rPr>
              <a:t>Improved cleaning quality</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227407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8">
            <a:extLst>
              <a:ext uri="{FF2B5EF4-FFF2-40B4-BE49-F238E27FC236}">
                <a16:creationId xmlns:a16="http://schemas.microsoft.com/office/drawing/2014/main" id="{B412C76F-91F8-713F-418F-1A9CE22B7DB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93476" y="468774"/>
            <a:ext cx="4173491" cy="4867348"/>
          </a:xfrm>
        </p:spPr>
      </p:pic>
      <p:pic>
        <p:nvPicPr>
          <p:cNvPr id="11" name="Picture 10">
            <a:extLst>
              <a:ext uri="{FF2B5EF4-FFF2-40B4-BE49-F238E27FC236}">
                <a16:creationId xmlns:a16="http://schemas.microsoft.com/office/drawing/2014/main" id="{5E945048-E3CF-1EEF-9BC1-F50DA4FD8D9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88077" y="558684"/>
            <a:ext cx="5926161" cy="4867348"/>
          </a:xfrm>
          <a:prstGeom prst="rect">
            <a:avLst/>
          </a:prstGeom>
        </p:spPr>
      </p:pic>
    </p:spTree>
    <p:extLst>
      <p:ext uri="{BB962C8B-B14F-4D97-AF65-F5344CB8AC3E}">
        <p14:creationId xmlns:p14="http://schemas.microsoft.com/office/powerpoint/2010/main" val="13106763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034820-8744-6A2F-61AC-86E391D5DCE0}"/>
              </a:ext>
            </a:extLst>
          </p:cNvPr>
          <p:cNvSpPr>
            <a:spLocks noGrp="1"/>
          </p:cNvSpPr>
          <p:nvPr>
            <p:ph type="title"/>
          </p:nvPr>
        </p:nvSpPr>
        <p:spPr/>
        <p:txBody>
          <a:bodyPr>
            <a:normAutofit/>
          </a:bodyPr>
          <a:lstStyle/>
          <a:p>
            <a:r>
              <a:rPr lang="en-US" sz="2000" b="1" u="sng" dirty="0">
                <a:latin typeface="Times New Roman" panose="02020603050405020304" pitchFamily="18" charset="0"/>
                <a:cs typeface="Times New Roman" panose="02020603050405020304" pitchFamily="18" charset="0"/>
              </a:rPr>
              <a:t>Conclusion:</a:t>
            </a:r>
            <a:endParaRPr lang="en-IN" sz="2000" b="1" u="sng"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777E024-B964-DC23-A693-75EEE4DACBED}"/>
              </a:ext>
            </a:extLst>
          </p:cNvPr>
          <p:cNvSpPr>
            <a:spLocks noGrp="1"/>
          </p:cNvSpPr>
          <p:nvPr>
            <p:ph idx="1"/>
          </p:nvPr>
        </p:nvSpPr>
        <p:spPr>
          <a:xfrm>
            <a:off x="1251155" y="1440144"/>
            <a:ext cx="10515600" cy="4351338"/>
          </a:xfrm>
        </p:spPr>
        <p:txBody>
          <a:bodyPr/>
          <a:lstStyle/>
          <a:p>
            <a:pPr marL="0" indent="0" algn="just">
              <a:lnSpc>
                <a:spcPct val="150000"/>
              </a:lnSpc>
              <a:buNone/>
            </a:pPr>
            <a:r>
              <a:rPr lang="en-US" sz="1800" dirty="0">
                <a:latin typeface="Times New Roman" panose="02020603050405020304" pitchFamily="18" charset="0"/>
                <a:cs typeface="Times New Roman" panose="02020603050405020304" pitchFamily="18" charset="0"/>
              </a:rPr>
              <a:t>In conclusion, the Smart Floor Cleaning Robot based on IoT revolutionizes cleaning tasks by increasing efficiency, improving accuracy, and enhancing convenience. With its advanced sensors and navigation systems, it optimizes cleaning paths and schedules, reducing labor costs and energy consumption. The robot's remote monitoring and control capabilities, scheduling, and notifications make it a valuable asset for smart homes, offices, and cities. As a cost-effective and environmentally friendly solution, the Smart Floor Cleaning Robot is poised to transform the cleaning industry, freeing up time for more productive tasks and paving the way for more automated future.</a:t>
            </a:r>
          </a:p>
        </p:txBody>
      </p:sp>
    </p:spTree>
    <p:extLst>
      <p:ext uri="{BB962C8B-B14F-4D97-AF65-F5344CB8AC3E}">
        <p14:creationId xmlns:p14="http://schemas.microsoft.com/office/powerpoint/2010/main" val="39352464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B6E19BF-76AC-9DA1-1899-DB1B7B3E7C16}"/>
              </a:ext>
            </a:extLst>
          </p:cNvPr>
          <p:cNvPicPr>
            <a:picLocks noChangeAspect="1"/>
          </p:cNvPicPr>
          <p:nvPr/>
        </p:nvPicPr>
        <p:blipFill>
          <a:blip r:embed="rId2">
            <a:extLst>
              <a:ext uri="{28A0092B-C50C-407E-A947-70E740481C1C}">
                <a14:useLocalDpi xmlns:a14="http://schemas.microsoft.com/office/drawing/2010/main" val="0"/>
              </a:ext>
            </a:extLst>
          </a:blip>
          <a:srcRect t="13978"/>
          <a:stretch/>
        </p:blipFill>
        <p:spPr>
          <a:xfrm>
            <a:off x="1386348" y="835741"/>
            <a:ext cx="8976852" cy="5004938"/>
          </a:xfrm>
          <a:prstGeom prst="rect">
            <a:avLst/>
          </a:prstGeom>
        </p:spPr>
      </p:pic>
    </p:spTree>
    <p:extLst>
      <p:ext uri="{BB962C8B-B14F-4D97-AF65-F5344CB8AC3E}">
        <p14:creationId xmlns:p14="http://schemas.microsoft.com/office/powerpoint/2010/main" val="34769799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8706D68-3DD5-ED28-FE0C-3B05980DEB8A}"/>
              </a:ext>
            </a:extLst>
          </p:cNvPr>
          <p:cNvPicPr>
            <a:picLocks noChangeAspect="1"/>
          </p:cNvPicPr>
          <p:nvPr/>
        </p:nvPicPr>
        <p:blipFill>
          <a:blip r:embed="rId2">
            <a:extLst>
              <a:ext uri="{28A0092B-C50C-407E-A947-70E740481C1C}">
                <a14:useLocalDpi xmlns:a14="http://schemas.microsoft.com/office/drawing/2010/main" val="0"/>
              </a:ext>
            </a:extLst>
          </a:blip>
          <a:srcRect r="90" b="12282"/>
          <a:stretch/>
        </p:blipFill>
        <p:spPr>
          <a:xfrm>
            <a:off x="393290" y="1205992"/>
            <a:ext cx="10943304" cy="3503660"/>
          </a:xfrm>
          <a:prstGeom prst="rect">
            <a:avLst/>
          </a:prstGeom>
        </p:spPr>
      </p:pic>
    </p:spTree>
    <p:extLst>
      <p:ext uri="{BB962C8B-B14F-4D97-AF65-F5344CB8AC3E}">
        <p14:creationId xmlns:p14="http://schemas.microsoft.com/office/powerpoint/2010/main" val="9873476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C1D199-5A95-88CC-0C59-519D1C722AF8}"/>
              </a:ext>
            </a:extLst>
          </p:cNvPr>
          <p:cNvSpPr>
            <a:spLocks noGrp="1"/>
          </p:cNvSpPr>
          <p:nvPr>
            <p:ph type="title"/>
          </p:nvPr>
        </p:nvSpPr>
        <p:spPr/>
        <p:txBody>
          <a:bodyPr>
            <a:normAutofit/>
          </a:bodyPr>
          <a:lstStyle/>
          <a:p>
            <a:r>
              <a:rPr lang="en-US" sz="2000" b="1" u="sng" dirty="0"/>
              <a:t>Future</a:t>
            </a:r>
            <a:r>
              <a:rPr lang="en-US" sz="2000" b="1" dirty="0">
                <a:effectLst>
                  <a:outerShdw blurRad="38100" dist="38100" dir="2700000" algn="tl">
                    <a:srgbClr val="000000">
                      <a:alpha val="43137"/>
                    </a:srgbClr>
                  </a:outerShdw>
                </a:effectLst>
              </a:rPr>
              <a:t> </a:t>
            </a:r>
            <a:r>
              <a:rPr lang="en-US" sz="2000" b="1" u="sng" dirty="0"/>
              <a:t>scope</a:t>
            </a:r>
            <a:r>
              <a:rPr lang="en-US" sz="2000" b="1" dirty="0"/>
              <a:t>:</a:t>
            </a:r>
            <a:endParaRPr lang="en-IN" dirty="0"/>
          </a:p>
        </p:txBody>
      </p:sp>
      <p:sp>
        <p:nvSpPr>
          <p:cNvPr id="3" name="Content Placeholder 2">
            <a:extLst>
              <a:ext uri="{FF2B5EF4-FFF2-40B4-BE49-F238E27FC236}">
                <a16:creationId xmlns:a16="http://schemas.microsoft.com/office/drawing/2014/main" id="{6909DDF7-24EE-CB24-FC40-775A1A9201E7}"/>
              </a:ext>
            </a:extLst>
          </p:cNvPr>
          <p:cNvSpPr>
            <a:spLocks noGrp="1"/>
          </p:cNvSpPr>
          <p:nvPr>
            <p:ph idx="1"/>
          </p:nvPr>
        </p:nvSpPr>
        <p:spPr/>
        <p:txBody>
          <a:bodyPr/>
          <a:lstStyle/>
          <a:p>
            <a:pPr marL="0" indent="0">
              <a:buNone/>
            </a:pPr>
            <a:r>
              <a:rPr lang="en-US" sz="1800" dirty="0"/>
              <a:t>Artificial intelligence integration</a:t>
            </a:r>
          </a:p>
          <a:p>
            <a:pPr marL="0" indent="0">
              <a:buNone/>
            </a:pPr>
            <a:r>
              <a:rPr lang="en-US" sz="1800" dirty="0"/>
              <a:t>Multi-functionality</a:t>
            </a:r>
          </a:p>
          <a:p>
            <a:pPr marL="0" indent="0">
              <a:buNone/>
            </a:pPr>
            <a:r>
              <a:rPr lang="en-US" sz="1800" dirty="0"/>
              <a:t>Connectivity</a:t>
            </a:r>
          </a:p>
          <a:p>
            <a:pPr marL="0" indent="0">
              <a:buNone/>
            </a:pPr>
            <a:r>
              <a:rPr lang="en-US" sz="1800" dirty="0"/>
              <a:t>Mobility</a:t>
            </a:r>
          </a:p>
          <a:p>
            <a:pPr marL="0" indent="0">
              <a:buNone/>
            </a:pPr>
            <a:r>
              <a:rPr lang="en-US" sz="1800" dirty="0"/>
              <a:t>Efficiency</a:t>
            </a:r>
          </a:p>
          <a:p>
            <a:pPr marL="0" indent="0">
              <a:buNone/>
            </a:pPr>
            <a:endParaRPr lang="en-IN" dirty="0"/>
          </a:p>
        </p:txBody>
      </p:sp>
    </p:spTree>
    <p:extLst>
      <p:ext uri="{BB962C8B-B14F-4D97-AF65-F5344CB8AC3E}">
        <p14:creationId xmlns:p14="http://schemas.microsoft.com/office/powerpoint/2010/main" val="10596104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41664D-FBBF-4AA4-0AD7-E396E044FF04}"/>
              </a:ext>
            </a:extLst>
          </p:cNvPr>
          <p:cNvSpPr>
            <a:spLocks noGrp="1"/>
          </p:cNvSpPr>
          <p:nvPr>
            <p:ph type="title"/>
          </p:nvPr>
        </p:nvSpPr>
        <p:spPr/>
        <p:txBody>
          <a:bodyPr>
            <a:normAutofit/>
          </a:bodyPr>
          <a:lstStyle/>
          <a:p>
            <a:r>
              <a:rPr lang="en-US" sz="2000" b="1" u="sng" dirty="0"/>
              <a:t>References:</a:t>
            </a:r>
            <a:endParaRPr lang="en-IN" sz="2000" b="1" u="sng" dirty="0"/>
          </a:p>
        </p:txBody>
      </p:sp>
      <p:sp>
        <p:nvSpPr>
          <p:cNvPr id="3" name="Content Placeholder 2">
            <a:extLst>
              <a:ext uri="{FF2B5EF4-FFF2-40B4-BE49-F238E27FC236}">
                <a16:creationId xmlns:a16="http://schemas.microsoft.com/office/drawing/2014/main" id="{2E846D8B-DC9D-7011-AE0E-DFA2831C028B}"/>
              </a:ext>
            </a:extLst>
          </p:cNvPr>
          <p:cNvSpPr>
            <a:spLocks noGrp="1"/>
          </p:cNvSpPr>
          <p:nvPr>
            <p:ph idx="1"/>
          </p:nvPr>
        </p:nvSpPr>
        <p:spPr/>
        <p:txBody>
          <a:bodyPr>
            <a:normAutofit/>
          </a:bodyPr>
          <a:lstStyle/>
          <a:p>
            <a:pPr>
              <a:buFont typeface="Wingdings" panose="05000000000000000000" pitchFamily="2" charset="2"/>
              <a:buChar char="q"/>
            </a:pPr>
            <a:r>
              <a:rPr lang="en-US" sz="2000" dirty="0"/>
              <a:t> </a:t>
            </a:r>
            <a:r>
              <a:rPr lang="en-US" sz="2000" dirty="0" err="1"/>
              <a:t>kim</a:t>
            </a:r>
            <a:r>
              <a:rPr lang="en-US" sz="2000" dirty="0"/>
              <a:t> </a:t>
            </a:r>
            <a:r>
              <a:rPr lang="en-US" sz="2000" dirty="0" err="1"/>
              <a:t>j.of,oh</a:t>
            </a:r>
            <a:r>
              <a:rPr lang="en-US" sz="2000" dirty="0"/>
              <a:t> j.,&amp; </a:t>
            </a:r>
            <a:r>
              <a:rPr lang="en-US" sz="2000" dirty="0" err="1"/>
              <a:t>park.j</a:t>
            </a:r>
            <a:r>
              <a:rPr lang="en-US" sz="2000" dirty="0"/>
              <a:t>(2019). An Autonomous cleaning robot for multi-room indoor environments. International journal  of precision engineering and technology,547-559.</a:t>
            </a:r>
          </a:p>
          <a:p>
            <a:pPr>
              <a:buFont typeface="Wingdings" panose="05000000000000000000" pitchFamily="2" charset="2"/>
              <a:buChar char="q"/>
            </a:pPr>
            <a:r>
              <a:rPr lang="en-US" sz="2000" dirty="0"/>
              <a:t> </a:t>
            </a:r>
            <a:r>
              <a:rPr lang="en-US" sz="2000" dirty="0" err="1"/>
              <a:t>Sorniotti</a:t>
            </a:r>
            <a:r>
              <a:rPr lang="en-US" sz="2000" dirty="0"/>
              <a:t> . A &amp; </a:t>
            </a:r>
            <a:r>
              <a:rPr lang="en-US" sz="2000" dirty="0" err="1"/>
              <a:t>pagnoni</a:t>
            </a:r>
            <a:r>
              <a:rPr lang="en-US" sz="2000" dirty="0"/>
              <a:t> .G(2019).autonomous floor cleaning robots: A review. Robotics and autonomous system, 121,103221.</a:t>
            </a:r>
          </a:p>
          <a:p>
            <a:pPr>
              <a:buFont typeface="Wingdings" panose="05000000000000000000" pitchFamily="2" charset="2"/>
              <a:buChar char="q"/>
            </a:pPr>
            <a:r>
              <a:rPr lang="en-US" sz="2000" dirty="0"/>
              <a:t> Li W Li </a:t>
            </a:r>
            <a:r>
              <a:rPr lang="en-US" sz="2000" dirty="0" err="1"/>
              <a:t>L.,Huang</a:t>
            </a:r>
            <a:r>
              <a:rPr lang="en-US" sz="2000" dirty="0"/>
              <a:t> .D &amp; Liu F(2019).A robotic vacuum cleaner based on human-robot interaction.  Robotics and autonomous system. 118,53-65.</a:t>
            </a:r>
          </a:p>
          <a:p>
            <a:pPr>
              <a:buFont typeface="Wingdings" panose="05000000000000000000" pitchFamily="2" charset="2"/>
              <a:buChar char="q"/>
            </a:pPr>
            <a:r>
              <a:rPr lang="en-US" sz="2000" dirty="0"/>
              <a:t> Choi Y.S &amp; Ahn H.S (2019).A Hybrid cleaning Robot with vacuum and scrubber. Journal of intelligent &amp; Robotic system. 93(3-4),661-673.</a:t>
            </a:r>
          </a:p>
          <a:p>
            <a:pPr>
              <a:buFont typeface="Wingdings" panose="05000000000000000000" pitchFamily="2" charset="2"/>
              <a:buChar char="q"/>
            </a:pPr>
            <a:r>
              <a:rPr lang="en-US" sz="2000" dirty="0" err="1"/>
              <a:t>Bouguerra.S</a:t>
            </a:r>
            <a:r>
              <a:rPr lang="en-US" sz="2000" dirty="0"/>
              <a:t> </a:t>
            </a:r>
            <a:r>
              <a:rPr lang="en-US" sz="2000" dirty="0" err="1"/>
              <a:t>Lippiello.V</a:t>
            </a:r>
            <a:r>
              <a:rPr lang="en-US" sz="2000" dirty="0"/>
              <a:t> &amp; </a:t>
            </a:r>
            <a:r>
              <a:rPr lang="en-US" sz="2000" dirty="0" err="1"/>
              <a:t>Parente.M</a:t>
            </a:r>
            <a:r>
              <a:rPr lang="en-US" sz="2000" dirty="0"/>
              <a:t> (2019). Autonomous cleaning robots: State-of-the-art and new challenges. Robotics and Autonomous system . 114,113-131.</a:t>
            </a:r>
          </a:p>
          <a:p>
            <a:pPr marL="0" indent="0">
              <a:buNone/>
            </a:pPr>
            <a:endParaRPr lang="en-US" sz="2000" dirty="0"/>
          </a:p>
        </p:txBody>
      </p:sp>
    </p:spTree>
    <p:extLst>
      <p:ext uri="{BB962C8B-B14F-4D97-AF65-F5344CB8AC3E}">
        <p14:creationId xmlns:p14="http://schemas.microsoft.com/office/powerpoint/2010/main" val="13860619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215</TotalTime>
  <Words>1359</Words>
  <Application>Microsoft Office PowerPoint</Application>
  <PresentationFormat>Widescreen</PresentationFormat>
  <Paragraphs>141</Paragraphs>
  <Slides>20</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Arial</vt:lpstr>
      <vt:lpstr>Calibri</vt:lpstr>
      <vt:lpstr>Calibri Light</vt:lpstr>
      <vt:lpstr>Times New Roman</vt:lpstr>
      <vt:lpstr>Wingdings</vt:lpstr>
      <vt:lpstr>Office Theme</vt:lpstr>
      <vt:lpstr>PowerPoint Presentation</vt:lpstr>
      <vt:lpstr>CONTENTS:</vt:lpstr>
      <vt:lpstr>ABSTRACT:</vt:lpstr>
      <vt:lpstr>EXISTING SYSYTEM:</vt:lpstr>
      <vt:lpstr>PROPOSED SYSTEM:</vt:lpstr>
      <vt:lpstr>BLOCK DIAGRAM:</vt:lpstr>
      <vt:lpstr>COMPONENTS:</vt:lpstr>
      <vt:lpstr>LCD DISPLAY:</vt:lpstr>
      <vt:lpstr>ULTRASONIC: An ultrasonic sensor acts as a primary obstacle detection mechanism, allowing the robot to navigate around furniture, walls, and other objects by measuring the distance to them using sound waves, enabling it to avoid collisions and clean efficiently while maintaining autonomy.</vt:lpstr>
      <vt:lpstr>PowerPoint Presentation</vt:lpstr>
      <vt:lpstr>BO MOTOR:</vt:lpstr>
      <vt:lpstr>Working principle</vt:lpstr>
      <vt:lpstr>APPLICATIONS:</vt:lpstr>
      <vt:lpstr>ADVANTAGES:</vt:lpstr>
      <vt:lpstr>PowerPoint Presentation</vt:lpstr>
      <vt:lpstr>Conclusion:</vt:lpstr>
      <vt:lpstr>PowerPoint Presentation</vt:lpstr>
      <vt:lpstr>PowerPoint Presentation</vt:lpstr>
      <vt:lpstr>Future scope:</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prasannabheemanadam123@gmail.com</dc:creator>
  <cp:lastModifiedBy>kavya sri</cp:lastModifiedBy>
  <cp:revision>7</cp:revision>
  <dcterms:created xsi:type="dcterms:W3CDTF">2025-02-13T15:23:38Z</dcterms:created>
  <dcterms:modified xsi:type="dcterms:W3CDTF">2025-03-01T01:29:45Z</dcterms:modified>
</cp:coreProperties>
</file>